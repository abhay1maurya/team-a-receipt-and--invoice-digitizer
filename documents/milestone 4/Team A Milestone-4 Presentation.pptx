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67" r:id="rId15"/>
    <p:sldId id="271" r:id="rId16"/>
    <p:sldId id="272" r:id="rId17"/>
    <p:sldId id="275" r:id="rId18"/>
    <p:sldId id="276" r:id="rId19"/>
    <p:sldId id="277" r:id="rId20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202124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02124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02124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02124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689900" y="2780975"/>
            <a:ext cx="2908800" cy="236252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689900" y="0"/>
            <a:ext cx="2908800" cy="216039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689900" y="960725"/>
            <a:ext cx="2908800" cy="29088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9099" y="261308"/>
            <a:ext cx="6854825" cy="8121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202124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9637" y="1745062"/>
            <a:ext cx="4521200" cy="25774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21375" y="2994249"/>
            <a:ext cx="2367915" cy="1788795"/>
          </a:xfrm>
          <a:custGeom>
            <a:avLst/>
            <a:gdLst/>
            <a:ahLst/>
            <a:cxnLst/>
            <a:rect l="l" t="t" r="r" b="b"/>
            <a:pathLst>
              <a:path w="2367915" h="1788795">
                <a:moveTo>
                  <a:pt x="1473599" y="1788599"/>
                </a:moveTo>
                <a:lnTo>
                  <a:pt x="894299" y="1788599"/>
                </a:lnTo>
                <a:lnTo>
                  <a:pt x="846804" y="1787360"/>
                </a:lnTo>
                <a:lnTo>
                  <a:pt x="799954" y="1783682"/>
                </a:lnTo>
                <a:lnTo>
                  <a:pt x="753812" y="1777628"/>
                </a:lnTo>
                <a:lnTo>
                  <a:pt x="708439" y="1769260"/>
                </a:lnTo>
                <a:lnTo>
                  <a:pt x="663898" y="1758639"/>
                </a:lnTo>
                <a:lnTo>
                  <a:pt x="620249" y="1745827"/>
                </a:lnTo>
                <a:lnTo>
                  <a:pt x="577554" y="1730887"/>
                </a:lnTo>
                <a:lnTo>
                  <a:pt x="535877" y="1713879"/>
                </a:lnTo>
                <a:lnTo>
                  <a:pt x="495277" y="1694865"/>
                </a:lnTo>
                <a:lnTo>
                  <a:pt x="455818" y="1673908"/>
                </a:lnTo>
                <a:lnTo>
                  <a:pt x="417561" y="1651069"/>
                </a:lnTo>
                <a:lnTo>
                  <a:pt x="380567" y="1626411"/>
                </a:lnTo>
                <a:lnTo>
                  <a:pt x="344899" y="1599994"/>
                </a:lnTo>
                <a:lnTo>
                  <a:pt x="310618" y="1571881"/>
                </a:lnTo>
                <a:lnTo>
                  <a:pt x="277787" y="1542133"/>
                </a:lnTo>
                <a:lnTo>
                  <a:pt x="246466" y="1510812"/>
                </a:lnTo>
                <a:lnTo>
                  <a:pt x="216718" y="1477980"/>
                </a:lnTo>
                <a:lnTo>
                  <a:pt x="188605" y="1443700"/>
                </a:lnTo>
                <a:lnTo>
                  <a:pt x="162188" y="1408032"/>
                </a:lnTo>
                <a:lnTo>
                  <a:pt x="137529" y="1371038"/>
                </a:lnTo>
                <a:lnTo>
                  <a:pt x="114691" y="1332781"/>
                </a:lnTo>
                <a:lnTo>
                  <a:pt x="93734" y="1293322"/>
                </a:lnTo>
                <a:lnTo>
                  <a:pt x="74720" y="1252722"/>
                </a:lnTo>
                <a:lnTo>
                  <a:pt x="57712" y="1211044"/>
                </a:lnTo>
                <a:lnTo>
                  <a:pt x="42772" y="1168350"/>
                </a:lnTo>
                <a:lnTo>
                  <a:pt x="29960" y="1124701"/>
                </a:lnTo>
                <a:lnTo>
                  <a:pt x="19339" y="1080160"/>
                </a:lnTo>
                <a:lnTo>
                  <a:pt x="10971" y="1034787"/>
                </a:lnTo>
                <a:lnTo>
                  <a:pt x="4917" y="988644"/>
                </a:lnTo>
                <a:lnTo>
                  <a:pt x="1239" y="941795"/>
                </a:lnTo>
                <a:lnTo>
                  <a:pt x="0" y="894299"/>
                </a:lnTo>
                <a:lnTo>
                  <a:pt x="1239" y="846804"/>
                </a:lnTo>
                <a:lnTo>
                  <a:pt x="4917" y="799954"/>
                </a:lnTo>
                <a:lnTo>
                  <a:pt x="10971" y="753812"/>
                </a:lnTo>
                <a:lnTo>
                  <a:pt x="19339" y="708439"/>
                </a:lnTo>
                <a:lnTo>
                  <a:pt x="29960" y="663898"/>
                </a:lnTo>
                <a:lnTo>
                  <a:pt x="42772" y="620249"/>
                </a:lnTo>
                <a:lnTo>
                  <a:pt x="57712" y="577555"/>
                </a:lnTo>
                <a:lnTo>
                  <a:pt x="74720" y="535877"/>
                </a:lnTo>
                <a:lnTo>
                  <a:pt x="93734" y="495277"/>
                </a:lnTo>
                <a:lnTo>
                  <a:pt x="114691" y="455818"/>
                </a:lnTo>
                <a:lnTo>
                  <a:pt x="137529" y="417561"/>
                </a:lnTo>
                <a:lnTo>
                  <a:pt x="162188" y="380567"/>
                </a:lnTo>
                <a:lnTo>
                  <a:pt x="188605" y="344899"/>
                </a:lnTo>
                <a:lnTo>
                  <a:pt x="216718" y="310619"/>
                </a:lnTo>
                <a:lnTo>
                  <a:pt x="246466" y="277787"/>
                </a:lnTo>
                <a:lnTo>
                  <a:pt x="277787" y="246466"/>
                </a:lnTo>
                <a:lnTo>
                  <a:pt x="310618" y="216718"/>
                </a:lnTo>
                <a:lnTo>
                  <a:pt x="344899" y="188605"/>
                </a:lnTo>
                <a:lnTo>
                  <a:pt x="380567" y="162188"/>
                </a:lnTo>
                <a:lnTo>
                  <a:pt x="417561" y="137530"/>
                </a:lnTo>
                <a:lnTo>
                  <a:pt x="455818" y="114691"/>
                </a:lnTo>
                <a:lnTo>
                  <a:pt x="495277" y="93734"/>
                </a:lnTo>
                <a:lnTo>
                  <a:pt x="535877" y="74720"/>
                </a:lnTo>
                <a:lnTo>
                  <a:pt x="577554" y="57712"/>
                </a:lnTo>
                <a:lnTo>
                  <a:pt x="620249" y="42772"/>
                </a:lnTo>
                <a:lnTo>
                  <a:pt x="663898" y="29960"/>
                </a:lnTo>
                <a:lnTo>
                  <a:pt x="708439" y="19339"/>
                </a:lnTo>
                <a:lnTo>
                  <a:pt x="753812" y="10971"/>
                </a:lnTo>
                <a:lnTo>
                  <a:pt x="799954" y="4917"/>
                </a:lnTo>
                <a:lnTo>
                  <a:pt x="846804" y="1239"/>
                </a:lnTo>
                <a:lnTo>
                  <a:pt x="894299" y="0"/>
                </a:lnTo>
                <a:lnTo>
                  <a:pt x="1473599" y="0"/>
                </a:lnTo>
                <a:lnTo>
                  <a:pt x="1524257" y="1434"/>
                </a:lnTo>
                <a:lnTo>
                  <a:pt x="1574509" y="5708"/>
                </a:lnTo>
                <a:lnTo>
                  <a:pt x="1624243" y="12775"/>
                </a:lnTo>
                <a:lnTo>
                  <a:pt x="1673353" y="22591"/>
                </a:lnTo>
                <a:lnTo>
                  <a:pt x="1721727" y="35109"/>
                </a:lnTo>
                <a:lnTo>
                  <a:pt x="1769257" y="50285"/>
                </a:lnTo>
                <a:lnTo>
                  <a:pt x="1815833" y="68074"/>
                </a:lnTo>
                <a:lnTo>
                  <a:pt x="1861346" y="88430"/>
                </a:lnTo>
                <a:lnTo>
                  <a:pt x="1905686" y="111307"/>
                </a:lnTo>
                <a:lnTo>
                  <a:pt x="1948743" y="136661"/>
                </a:lnTo>
                <a:lnTo>
                  <a:pt x="1990410" y="164446"/>
                </a:lnTo>
                <a:lnTo>
                  <a:pt x="2030575" y="194617"/>
                </a:lnTo>
                <a:lnTo>
                  <a:pt x="2069130" y="227128"/>
                </a:lnTo>
                <a:lnTo>
                  <a:pt x="2105965" y="261934"/>
                </a:lnTo>
                <a:lnTo>
                  <a:pt x="2140771" y="298769"/>
                </a:lnTo>
                <a:lnTo>
                  <a:pt x="2173283" y="337324"/>
                </a:lnTo>
                <a:lnTo>
                  <a:pt x="2203453" y="377489"/>
                </a:lnTo>
                <a:lnTo>
                  <a:pt x="2231238" y="419155"/>
                </a:lnTo>
                <a:lnTo>
                  <a:pt x="2256592" y="462213"/>
                </a:lnTo>
                <a:lnTo>
                  <a:pt x="2279469" y="506553"/>
                </a:lnTo>
                <a:lnTo>
                  <a:pt x="2299825" y="552066"/>
                </a:lnTo>
                <a:lnTo>
                  <a:pt x="2317614" y="598642"/>
                </a:lnTo>
                <a:lnTo>
                  <a:pt x="2332790" y="646171"/>
                </a:lnTo>
                <a:lnTo>
                  <a:pt x="2345309" y="694546"/>
                </a:lnTo>
                <a:lnTo>
                  <a:pt x="2355124" y="743655"/>
                </a:lnTo>
                <a:lnTo>
                  <a:pt x="2362191" y="793390"/>
                </a:lnTo>
                <a:lnTo>
                  <a:pt x="2366465" y="843641"/>
                </a:lnTo>
                <a:lnTo>
                  <a:pt x="2367899" y="894299"/>
                </a:lnTo>
                <a:lnTo>
                  <a:pt x="2366660" y="941795"/>
                </a:lnTo>
                <a:lnTo>
                  <a:pt x="2362982" y="988644"/>
                </a:lnTo>
                <a:lnTo>
                  <a:pt x="2356928" y="1034787"/>
                </a:lnTo>
                <a:lnTo>
                  <a:pt x="2348560" y="1080160"/>
                </a:lnTo>
                <a:lnTo>
                  <a:pt x="2337939" y="1124701"/>
                </a:lnTo>
                <a:lnTo>
                  <a:pt x="2325127" y="1168350"/>
                </a:lnTo>
                <a:lnTo>
                  <a:pt x="2310187" y="1211044"/>
                </a:lnTo>
                <a:lnTo>
                  <a:pt x="2293179" y="1252722"/>
                </a:lnTo>
                <a:lnTo>
                  <a:pt x="2274165" y="1293322"/>
                </a:lnTo>
                <a:lnTo>
                  <a:pt x="2253208" y="1332781"/>
                </a:lnTo>
                <a:lnTo>
                  <a:pt x="2230370" y="1371038"/>
                </a:lnTo>
                <a:lnTo>
                  <a:pt x="2205711" y="1408032"/>
                </a:lnTo>
                <a:lnTo>
                  <a:pt x="2179294" y="1443700"/>
                </a:lnTo>
                <a:lnTo>
                  <a:pt x="2151181" y="1477980"/>
                </a:lnTo>
                <a:lnTo>
                  <a:pt x="2121433" y="1510812"/>
                </a:lnTo>
                <a:lnTo>
                  <a:pt x="2090112" y="1542133"/>
                </a:lnTo>
                <a:lnTo>
                  <a:pt x="2057281" y="1571881"/>
                </a:lnTo>
                <a:lnTo>
                  <a:pt x="2023000" y="1599994"/>
                </a:lnTo>
                <a:lnTo>
                  <a:pt x="1987332" y="1626411"/>
                </a:lnTo>
                <a:lnTo>
                  <a:pt x="1950338" y="1651069"/>
                </a:lnTo>
                <a:lnTo>
                  <a:pt x="1912081" y="1673908"/>
                </a:lnTo>
                <a:lnTo>
                  <a:pt x="1872622" y="1694865"/>
                </a:lnTo>
                <a:lnTo>
                  <a:pt x="1832022" y="1713879"/>
                </a:lnTo>
                <a:lnTo>
                  <a:pt x="1790345" y="1730887"/>
                </a:lnTo>
                <a:lnTo>
                  <a:pt x="1747650" y="1745827"/>
                </a:lnTo>
                <a:lnTo>
                  <a:pt x="1704001" y="1758639"/>
                </a:lnTo>
                <a:lnTo>
                  <a:pt x="1659460" y="1769260"/>
                </a:lnTo>
                <a:lnTo>
                  <a:pt x="1614087" y="1777628"/>
                </a:lnTo>
                <a:lnTo>
                  <a:pt x="1567945" y="1783682"/>
                </a:lnTo>
                <a:lnTo>
                  <a:pt x="1521095" y="1787360"/>
                </a:lnTo>
                <a:lnTo>
                  <a:pt x="1473599" y="1788599"/>
                </a:lnTo>
                <a:close/>
              </a:path>
            </a:pathLst>
          </a:custGeom>
          <a:solidFill>
            <a:srgbClr val="FDFD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185699" y="2582099"/>
            <a:ext cx="2078355" cy="521334"/>
          </a:xfrm>
          <a:custGeom>
            <a:avLst/>
            <a:gdLst/>
            <a:ahLst/>
            <a:cxnLst/>
            <a:rect l="l" t="t" r="r" b="b"/>
            <a:pathLst>
              <a:path w="2078354" h="521335">
                <a:moveTo>
                  <a:pt x="1817699" y="520799"/>
                </a:moveTo>
                <a:lnTo>
                  <a:pt x="260399" y="520799"/>
                </a:lnTo>
                <a:lnTo>
                  <a:pt x="213592" y="516604"/>
                </a:lnTo>
                <a:lnTo>
                  <a:pt x="169537" y="504508"/>
                </a:lnTo>
                <a:lnTo>
                  <a:pt x="128971" y="485247"/>
                </a:lnTo>
                <a:lnTo>
                  <a:pt x="92627" y="459557"/>
                </a:lnTo>
                <a:lnTo>
                  <a:pt x="61242" y="428172"/>
                </a:lnTo>
                <a:lnTo>
                  <a:pt x="35552" y="391828"/>
                </a:lnTo>
                <a:lnTo>
                  <a:pt x="16291" y="351262"/>
                </a:lnTo>
                <a:lnTo>
                  <a:pt x="4195" y="307207"/>
                </a:lnTo>
                <a:lnTo>
                  <a:pt x="0" y="260399"/>
                </a:lnTo>
                <a:lnTo>
                  <a:pt x="4195" y="213592"/>
                </a:lnTo>
                <a:lnTo>
                  <a:pt x="16291" y="169537"/>
                </a:lnTo>
                <a:lnTo>
                  <a:pt x="35552" y="128971"/>
                </a:lnTo>
                <a:lnTo>
                  <a:pt x="61242" y="92627"/>
                </a:lnTo>
                <a:lnTo>
                  <a:pt x="92627" y="61242"/>
                </a:lnTo>
                <a:lnTo>
                  <a:pt x="128971" y="35552"/>
                </a:lnTo>
                <a:lnTo>
                  <a:pt x="169537" y="16291"/>
                </a:lnTo>
                <a:lnTo>
                  <a:pt x="213592" y="4195"/>
                </a:lnTo>
                <a:lnTo>
                  <a:pt x="260399" y="0"/>
                </a:lnTo>
                <a:lnTo>
                  <a:pt x="1817699" y="0"/>
                </a:lnTo>
                <a:lnTo>
                  <a:pt x="1868738" y="5049"/>
                </a:lnTo>
                <a:lnTo>
                  <a:pt x="1917350" y="19821"/>
                </a:lnTo>
                <a:lnTo>
                  <a:pt x="1962169" y="43750"/>
                </a:lnTo>
                <a:lnTo>
                  <a:pt x="2001830" y="76269"/>
                </a:lnTo>
                <a:lnTo>
                  <a:pt x="2034349" y="115929"/>
                </a:lnTo>
                <a:lnTo>
                  <a:pt x="2058278" y="160749"/>
                </a:lnTo>
                <a:lnTo>
                  <a:pt x="2073050" y="209361"/>
                </a:lnTo>
                <a:lnTo>
                  <a:pt x="2078099" y="260399"/>
                </a:lnTo>
                <a:lnTo>
                  <a:pt x="2073904" y="307207"/>
                </a:lnTo>
                <a:lnTo>
                  <a:pt x="2061808" y="351262"/>
                </a:lnTo>
                <a:lnTo>
                  <a:pt x="2042547" y="391828"/>
                </a:lnTo>
                <a:lnTo>
                  <a:pt x="2016857" y="428172"/>
                </a:lnTo>
                <a:lnTo>
                  <a:pt x="1985472" y="459557"/>
                </a:lnTo>
                <a:lnTo>
                  <a:pt x="1949128" y="485247"/>
                </a:lnTo>
                <a:lnTo>
                  <a:pt x="1908562" y="504508"/>
                </a:lnTo>
                <a:lnTo>
                  <a:pt x="1864507" y="516604"/>
                </a:lnTo>
                <a:lnTo>
                  <a:pt x="1817699" y="520799"/>
                </a:lnTo>
                <a:close/>
              </a:path>
            </a:pathLst>
          </a:custGeom>
          <a:solidFill>
            <a:srgbClr val="FDFD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95550" y="1047500"/>
            <a:ext cx="781430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RECEIPT</a:t>
            </a:r>
            <a:r>
              <a:rPr sz="3600" spc="-270" dirty="0"/>
              <a:t> </a:t>
            </a:r>
            <a:r>
              <a:rPr sz="3600" dirty="0"/>
              <a:t>AND</a:t>
            </a:r>
            <a:r>
              <a:rPr sz="3600" spc="-50" dirty="0"/>
              <a:t> </a:t>
            </a:r>
            <a:r>
              <a:rPr sz="3600" dirty="0"/>
              <a:t>INVOICE</a:t>
            </a:r>
            <a:r>
              <a:rPr sz="3600" spc="-30" dirty="0"/>
              <a:t> </a:t>
            </a:r>
            <a:r>
              <a:rPr sz="3600" spc="-10" dirty="0"/>
              <a:t>DIGITIZER</a:t>
            </a:r>
            <a:endParaRPr sz="3600" dirty="0"/>
          </a:p>
        </p:txBody>
      </p:sp>
      <p:sp>
        <p:nvSpPr>
          <p:cNvPr id="5" name="object 5"/>
          <p:cNvSpPr txBox="1"/>
          <p:nvPr/>
        </p:nvSpPr>
        <p:spPr>
          <a:xfrm>
            <a:off x="2667225" y="1967230"/>
            <a:ext cx="5316220" cy="2632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latin typeface="Arial"/>
                <a:cs typeface="Arial"/>
              </a:rPr>
              <a:t>Milestone</a:t>
            </a:r>
            <a:r>
              <a:rPr sz="1500" b="1" spc="-2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3</a:t>
            </a:r>
            <a:r>
              <a:rPr sz="1500" b="1" spc="-2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–</a:t>
            </a:r>
            <a:r>
              <a:rPr sz="1500" b="1" spc="-25" dirty="0">
                <a:latin typeface="Arial"/>
                <a:cs typeface="Arial"/>
              </a:rPr>
              <a:t> </a:t>
            </a:r>
            <a:r>
              <a:rPr sz="1500" b="1" spc="-10" dirty="0">
                <a:latin typeface="Arial"/>
                <a:cs typeface="Arial"/>
              </a:rPr>
              <a:t>Dashboard</a:t>
            </a:r>
            <a:r>
              <a:rPr sz="1500" b="1" spc="-2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&amp;</a:t>
            </a:r>
            <a:r>
              <a:rPr sz="1500" b="1" spc="-25" dirty="0">
                <a:latin typeface="Arial"/>
                <a:cs typeface="Arial"/>
              </a:rPr>
              <a:t> </a:t>
            </a:r>
            <a:r>
              <a:rPr sz="1500" b="1" spc="-10" dirty="0">
                <a:latin typeface="Arial"/>
                <a:cs typeface="Arial"/>
              </a:rPr>
              <a:t>Reporting</a:t>
            </a:r>
            <a:endParaRPr sz="15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1500" dirty="0">
              <a:latin typeface="Arial"/>
              <a:cs typeface="Arial"/>
            </a:endParaRPr>
          </a:p>
          <a:p>
            <a:pPr marL="1126490">
              <a:lnSpc>
                <a:spcPct val="100000"/>
              </a:lnSpc>
            </a:pPr>
            <a:r>
              <a:rPr sz="1500" b="1" dirty="0">
                <a:solidFill>
                  <a:srgbClr val="202124"/>
                </a:solidFill>
                <a:latin typeface="Tahoma"/>
                <a:cs typeface="Tahoma"/>
              </a:rPr>
              <a:t>TEAM</a:t>
            </a:r>
            <a:r>
              <a:rPr sz="1500" b="1" spc="-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1500" b="1" spc="75" dirty="0">
                <a:solidFill>
                  <a:srgbClr val="202124"/>
                </a:solidFill>
                <a:latin typeface="Tahoma"/>
                <a:cs typeface="Tahoma"/>
              </a:rPr>
              <a:t>-</a:t>
            </a:r>
            <a:r>
              <a:rPr sz="1500" b="1" spc="-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sz="1500" b="1" spc="1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endParaRPr sz="1500" dirty="0">
              <a:latin typeface="Tahoma"/>
              <a:cs typeface="Tahoma"/>
            </a:endParaRPr>
          </a:p>
          <a:p>
            <a:pPr marR="5080" algn="r">
              <a:lnSpc>
                <a:spcPct val="100000"/>
              </a:lnSpc>
              <a:spcBef>
                <a:spcPts val="1465"/>
              </a:spcBef>
            </a:pPr>
            <a:r>
              <a:rPr sz="1100" b="1" dirty="0">
                <a:solidFill>
                  <a:srgbClr val="202124"/>
                </a:solidFill>
                <a:latin typeface="Tahoma"/>
                <a:cs typeface="Tahoma"/>
              </a:rPr>
              <a:t>TEAM</a:t>
            </a:r>
            <a:r>
              <a:rPr sz="1100" b="1" spc="-10" dirty="0">
                <a:solidFill>
                  <a:srgbClr val="202124"/>
                </a:solidFill>
                <a:latin typeface="Tahoma"/>
                <a:cs typeface="Tahoma"/>
              </a:rPr>
              <a:t> MEMBERS:</a:t>
            </a:r>
            <a:endParaRPr sz="1100" dirty="0">
              <a:latin typeface="Tahoma"/>
              <a:cs typeface="Tahoma"/>
            </a:endParaRPr>
          </a:p>
          <a:p>
            <a:pPr marL="4283075" indent="-42545">
              <a:lnSpc>
                <a:spcPct val="100000"/>
              </a:lnSpc>
              <a:spcBef>
                <a:spcPts val="1235"/>
              </a:spcBef>
            </a:pPr>
            <a:r>
              <a:rPr sz="1000" dirty="0">
                <a:latin typeface="Arial MT"/>
                <a:cs typeface="Arial MT"/>
              </a:rPr>
              <a:t>Abhay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Maurya</a:t>
            </a:r>
            <a:endParaRPr sz="1000" dirty="0">
              <a:latin typeface="Arial MT"/>
              <a:cs typeface="Arial MT"/>
            </a:endParaRPr>
          </a:p>
          <a:p>
            <a:pPr marL="4212590" marR="74295" indent="69850">
              <a:lnSpc>
                <a:spcPct val="212500"/>
              </a:lnSpc>
              <a:spcBef>
                <a:spcPts val="25"/>
              </a:spcBef>
            </a:pPr>
            <a:r>
              <a:rPr sz="1000" dirty="0">
                <a:latin typeface="Arial MT"/>
                <a:cs typeface="Arial MT"/>
              </a:rPr>
              <a:t>Harini</a:t>
            </a:r>
            <a:r>
              <a:rPr sz="1000" spc="-6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Kaveti </a:t>
            </a:r>
            <a:r>
              <a:rPr sz="1000" dirty="0">
                <a:latin typeface="Arial MT"/>
                <a:cs typeface="Arial MT"/>
              </a:rPr>
              <a:t>Pattem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Dharmika Vaibhavi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Vernekar</a:t>
            </a:r>
            <a:endParaRPr sz="1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1250" rIns="0" bIns="0" rtlCol="0">
            <a:spAutoFit/>
          </a:bodyPr>
          <a:lstStyle/>
          <a:p>
            <a:pPr marL="20447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Problem</a:t>
            </a:r>
            <a:r>
              <a:rPr spc="-8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Statement</a:t>
            </a:r>
            <a:r>
              <a:rPr spc="-80" dirty="0">
                <a:solidFill>
                  <a:srgbClr val="000000"/>
                </a:solidFill>
              </a:rPr>
              <a:t> </a:t>
            </a:r>
            <a:r>
              <a:rPr spc="-50" dirty="0">
                <a:solidFill>
                  <a:srgbClr val="000000"/>
                </a:solidFill>
              </a:rPr>
              <a:t>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4325" y="1267434"/>
            <a:ext cx="7072630" cy="3409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400" dirty="0">
                <a:latin typeface="Times New Roman"/>
                <a:cs typeface="Times New Roman"/>
              </a:rPr>
              <a:t>Although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invoice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data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was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successfully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extracted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stored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database,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critical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gaps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remained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data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presentation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business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insights.</a:t>
            </a: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52069">
              <a:lnSpc>
                <a:spcPct val="100000"/>
              </a:lnSpc>
            </a:pPr>
            <a:r>
              <a:rPr sz="1100" b="1" dirty="0">
                <a:latin typeface="Times New Roman"/>
                <a:cs typeface="Times New Roman"/>
              </a:rPr>
              <a:t>No</a:t>
            </a:r>
            <a:r>
              <a:rPr sz="1100" b="1" spc="-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Centralized</a:t>
            </a:r>
            <a:r>
              <a:rPr sz="1100" b="1" spc="-3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Dashboard</a:t>
            </a: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100" dirty="0">
              <a:latin typeface="Times New Roman"/>
              <a:cs typeface="Times New Roman"/>
            </a:endParaRPr>
          </a:p>
          <a:p>
            <a:pPr marL="52069">
              <a:lnSpc>
                <a:spcPct val="100000"/>
              </a:lnSpc>
            </a:pPr>
            <a:r>
              <a:rPr sz="1100" dirty="0">
                <a:latin typeface="Times New Roman"/>
                <a:cs typeface="Times New Roman"/>
              </a:rPr>
              <a:t>Users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lacked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unified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view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review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uploaded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bills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invoices</a:t>
            </a: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100" dirty="0">
              <a:latin typeface="Times New Roman"/>
              <a:cs typeface="Times New Roman"/>
            </a:endParaRPr>
          </a:p>
          <a:p>
            <a:pPr marL="52069">
              <a:lnSpc>
                <a:spcPct val="100000"/>
              </a:lnSpc>
            </a:pPr>
            <a:r>
              <a:rPr sz="1100" b="1" dirty="0">
                <a:latin typeface="Times New Roman"/>
                <a:cs typeface="Times New Roman"/>
              </a:rPr>
              <a:t>Missing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Visualizations</a:t>
            </a: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100" dirty="0">
              <a:latin typeface="Times New Roman"/>
              <a:cs typeface="Times New Roman"/>
            </a:endParaRPr>
          </a:p>
          <a:p>
            <a:pPr marL="52069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latin typeface="Times New Roman"/>
                <a:cs typeface="Times New Roman"/>
              </a:rPr>
              <a:t>Spending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patterns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trends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could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visualized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effectively.</a:t>
            </a: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100" dirty="0">
              <a:latin typeface="Times New Roman"/>
              <a:cs typeface="Times New Roman"/>
            </a:endParaRPr>
          </a:p>
          <a:p>
            <a:pPr marL="52069">
              <a:lnSpc>
                <a:spcPct val="100000"/>
              </a:lnSpc>
            </a:pPr>
            <a:r>
              <a:rPr sz="1100" b="1" dirty="0">
                <a:latin typeface="Times New Roman"/>
                <a:cs typeface="Times New Roman"/>
              </a:rPr>
              <a:t>No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Monthly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Summaries</a:t>
            </a: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100" dirty="0">
              <a:latin typeface="Times New Roman"/>
              <a:cs typeface="Times New Roman"/>
            </a:endParaRPr>
          </a:p>
          <a:p>
            <a:pPr marL="52069">
              <a:lnSpc>
                <a:spcPct val="100000"/>
              </a:lnSpc>
            </a:pPr>
            <a:r>
              <a:rPr sz="1100" dirty="0">
                <a:latin typeface="Times New Roman"/>
                <a:cs typeface="Times New Roman"/>
              </a:rPr>
              <a:t>Structured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monthly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spending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summaries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were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unavailable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analysis.</a:t>
            </a: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100" dirty="0">
              <a:latin typeface="Times New Roman"/>
              <a:cs typeface="Times New Roman"/>
            </a:endParaRPr>
          </a:p>
          <a:p>
            <a:pPr marL="52069">
              <a:lnSpc>
                <a:spcPct val="100000"/>
              </a:lnSpc>
              <a:spcBef>
                <a:spcPts val="5"/>
              </a:spcBef>
            </a:pPr>
            <a:r>
              <a:rPr sz="1100" b="1" dirty="0">
                <a:latin typeface="Times New Roman"/>
                <a:cs typeface="Times New Roman"/>
              </a:rPr>
              <a:t>Limited</a:t>
            </a:r>
            <a:r>
              <a:rPr sz="1100" b="1" spc="-3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Reporting</a:t>
            </a: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100" dirty="0">
              <a:latin typeface="Times New Roman"/>
              <a:cs typeface="Times New Roman"/>
            </a:endParaRPr>
          </a:p>
          <a:p>
            <a:pPr marL="52069">
              <a:lnSpc>
                <a:spcPct val="100000"/>
              </a:lnSpc>
            </a:pPr>
            <a:r>
              <a:rPr sz="1100" dirty="0">
                <a:latin typeface="Times New Roman"/>
                <a:cs typeface="Times New Roman"/>
              </a:rPr>
              <a:t>Export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functionality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structured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reporting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features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not</a:t>
            </a:r>
            <a:r>
              <a:rPr sz="1100" spc="-10" dirty="0">
                <a:latin typeface="Times New Roman"/>
                <a:cs typeface="Times New Roman"/>
              </a:rPr>
              <a:t> exist.</a:t>
            </a:r>
            <a:endParaRPr sz="11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1999" rIns="0" bIns="0" rtlCol="0">
            <a:spAutoFit/>
          </a:bodyPr>
          <a:lstStyle/>
          <a:p>
            <a:pPr marL="22034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Milestone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3</a:t>
            </a:r>
            <a:r>
              <a:rPr spc="-2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Objectives: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0425" y="1247430"/>
            <a:ext cx="2291080" cy="617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30"/>
              </a:lnSpc>
            </a:pPr>
            <a:r>
              <a:rPr sz="1400" dirty="0">
                <a:latin typeface="Arial MT"/>
                <a:cs typeface="Arial MT"/>
              </a:rPr>
              <a:t>Interactive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Dashboard</a:t>
            </a:r>
            <a:endParaRPr sz="1400">
              <a:latin typeface="Arial MT"/>
              <a:cs typeface="Arial MT"/>
            </a:endParaRPr>
          </a:p>
          <a:p>
            <a:pPr>
              <a:lnSpc>
                <a:spcPts val="1650"/>
              </a:lnSpc>
              <a:spcBef>
                <a:spcPts val="30"/>
              </a:spcBef>
            </a:pPr>
            <a:r>
              <a:rPr sz="1400" dirty="0">
                <a:latin typeface="Arial MT"/>
                <a:cs typeface="Arial MT"/>
              </a:rPr>
              <a:t>Build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Streamlit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dashboard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for </a:t>
            </a:r>
            <a:r>
              <a:rPr sz="1400" dirty="0">
                <a:latin typeface="Arial MT"/>
                <a:cs typeface="Arial MT"/>
              </a:rPr>
              <a:t>centralized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data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access.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7325" y="1167850"/>
            <a:ext cx="2547620" cy="1202690"/>
          </a:xfrm>
          <a:custGeom>
            <a:avLst/>
            <a:gdLst/>
            <a:ahLst/>
            <a:cxnLst/>
            <a:rect l="l" t="t" r="r" b="b"/>
            <a:pathLst>
              <a:path w="2547620" h="1202689">
                <a:moveTo>
                  <a:pt x="2546999" y="1202399"/>
                </a:moveTo>
                <a:lnTo>
                  <a:pt x="0" y="1202399"/>
                </a:lnTo>
                <a:lnTo>
                  <a:pt x="0" y="0"/>
                </a:lnTo>
                <a:lnTo>
                  <a:pt x="2546999" y="0"/>
                </a:lnTo>
                <a:lnTo>
                  <a:pt x="2546999" y="1202399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37325" y="1167850"/>
            <a:ext cx="2547620" cy="1202690"/>
          </a:xfrm>
          <a:prstGeom prst="rect">
            <a:avLst/>
          </a:prstGeom>
          <a:ln w="9524">
            <a:solidFill>
              <a:srgbClr val="E7F0FD"/>
            </a:solidFill>
          </a:ln>
        </p:spPr>
        <p:txBody>
          <a:bodyPr vert="horz" wrap="square" lIns="0" tIns="679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5"/>
              </a:spcBef>
            </a:pPr>
            <a:endParaRPr sz="1100">
              <a:latin typeface="Times New Roman"/>
              <a:cs typeface="Times New Roman"/>
            </a:endParaRPr>
          </a:p>
          <a:p>
            <a:pPr marL="85725">
              <a:lnSpc>
                <a:spcPct val="100000"/>
              </a:lnSpc>
            </a:pPr>
            <a:r>
              <a:rPr sz="1100" b="1" dirty="0">
                <a:latin typeface="Arial"/>
                <a:cs typeface="Arial"/>
              </a:rPr>
              <a:t>Interactive</a:t>
            </a:r>
            <a:r>
              <a:rPr sz="1100" b="1" spc="-5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Dashboard</a:t>
            </a:r>
            <a:endParaRPr sz="1100">
              <a:latin typeface="Arial"/>
              <a:cs typeface="Arial"/>
            </a:endParaRPr>
          </a:p>
          <a:p>
            <a:pPr marL="85725" marR="614045">
              <a:lnSpc>
                <a:spcPct val="117400"/>
              </a:lnSpc>
              <a:spcBef>
                <a:spcPts val="1175"/>
              </a:spcBef>
            </a:pPr>
            <a:r>
              <a:rPr sz="1100" dirty="0">
                <a:latin typeface="Arial MT"/>
                <a:cs typeface="Arial MT"/>
              </a:rPr>
              <a:t>Build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Stream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lit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dashboard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for </a:t>
            </a:r>
            <a:r>
              <a:rPr sz="1100" spc="-10" dirty="0">
                <a:latin typeface="Arial MT"/>
                <a:cs typeface="Arial MT"/>
              </a:rPr>
              <a:t>centralized </a:t>
            </a:r>
            <a:r>
              <a:rPr sz="1100" dirty="0">
                <a:latin typeface="Arial MT"/>
                <a:cs typeface="Arial MT"/>
              </a:rPr>
              <a:t>data</a:t>
            </a:r>
            <a:r>
              <a:rPr sz="1100" spc="-10" dirty="0">
                <a:latin typeface="Arial MT"/>
                <a:cs typeface="Arial MT"/>
              </a:rPr>
              <a:t> access.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397775" y="1207349"/>
            <a:ext cx="2547620" cy="1202690"/>
          </a:xfrm>
          <a:custGeom>
            <a:avLst/>
            <a:gdLst/>
            <a:ahLst/>
            <a:cxnLst/>
            <a:rect l="l" t="t" r="r" b="b"/>
            <a:pathLst>
              <a:path w="2547620" h="1202689">
                <a:moveTo>
                  <a:pt x="2546999" y="1202399"/>
                </a:moveTo>
                <a:lnTo>
                  <a:pt x="0" y="1202399"/>
                </a:lnTo>
                <a:lnTo>
                  <a:pt x="0" y="0"/>
                </a:lnTo>
                <a:lnTo>
                  <a:pt x="2546999" y="0"/>
                </a:lnTo>
                <a:lnTo>
                  <a:pt x="2546999" y="1202399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397775" y="1207349"/>
            <a:ext cx="2547620" cy="1202690"/>
          </a:xfrm>
          <a:prstGeom prst="rect">
            <a:avLst/>
          </a:prstGeom>
          <a:ln w="9524">
            <a:solidFill>
              <a:srgbClr val="E7F0FD"/>
            </a:solidFill>
          </a:ln>
        </p:spPr>
        <p:txBody>
          <a:bodyPr vert="horz" wrap="square" lIns="0" tIns="679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5"/>
              </a:spcBef>
            </a:pPr>
            <a:endParaRPr sz="1100">
              <a:latin typeface="Times New Roman"/>
              <a:cs typeface="Times New Roman"/>
            </a:endParaRPr>
          </a:p>
          <a:p>
            <a:pPr marL="85090">
              <a:lnSpc>
                <a:spcPct val="100000"/>
              </a:lnSpc>
            </a:pPr>
            <a:r>
              <a:rPr sz="1100" b="1" dirty="0">
                <a:latin typeface="Arial"/>
                <a:cs typeface="Arial"/>
              </a:rPr>
              <a:t>Monthly</a:t>
            </a:r>
            <a:r>
              <a:rPr sz="1100" b="1" spc="-7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Analytics</a:t>
            </a:r>
            <a:endParaRPr sz="1100">
              <a:latin typeface="Arial"/>
              <a:cs typeface="Arial"/>
            </a:endParaRPr>
          </a:p>
          <a:p>
            <a:pPr marL="85090" marR="342900">
              <a:lnSpc>
                <a:spcPct val="117400"/>
              </a:lnSpc>
              <a:spcBef>
                <a:spcPts val="1175"/>
              </a:spcBef>
            </a:pPr>
            <a:r>
              <a:rPr sz="1100" dirty="0">
                <a:latin typeface="Arial MT"/>
                <a:cs typeface="Arial MT"/>
              </a:rPr>
              <a:t>Implement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spending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analytics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and </a:t>
            </a:r>
            <a:r>
              <a:rPr sz="1100" dirty="0">
                <a:latin typeface="Arial MT"/>
                <a:cs typeface="Arial MT"/>
              </a:rPr>
              <a:t>trend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calculations.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418700" y="1246824"/>
            <a:ext cx="2211705" cy="1202690"/>
          </a:xfrm>
          <a:custGeom>
            <a:avLst/>
            <a:gdLst/>
            <a:ahLst/>
            <a:cxnLst/>
            <a:rect l="l" t="t" r="r" b="b"/>
            <a:pathLst>
              <a:path w="2211704" h="1202689">
                <a:moveTo>
                  <a:pt x="2211299" y="1202399"/>
                </a:moveTo>
                <a:lnTo>
                  <a:pt x="0" y="1202399"/>
                </a:lnTo>
                <a:lnTo>
                  <a:pt x="0" y="0"/>
                </a:lnTo>
                <a:lnTo>
                  <a:pt x="2211299" y="0"/>
                </a:lnTo>
                <a:lnTo>
                  <a:pt x="2211299" y="1202399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418700" y="1246824"/>
            <a:ext cx="2211705" cy="1202690"/>
          </a:xfrm>
          <a:prstGeom prst="rect">
            <a:avLst/>
          </a:prstGeom>
          <a:ln w="9524">
            <a:solidFill>
              <a:srgbClr val="E7F0FD"/>
            </a:solidFill>
          </a:ln>
        </p:spPr>
        <p:txBody>
          <a:bodyPr vert="horz" wrap="square" lIns="0" tIns="679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5"/>
              </a:spcBef>
            </a:pPr>
            <a:endParaRPr sz="1100">
              <a:latin typeface="Times New Roman"/>
              <a:cs typeface="Times New Roman"/>
            </a:endParaRPr>
          </a:p>
          <a:p>
            <a:pPr marL="85725">
              <a:lnSpc>
                <a:spcPct val="100000"/>
              </a:lnSpc>
            </a:pPr>
            <a:r>
              <a:rPr sz="1100" b="1" dirty="0">
                <a:latin typeface="Arial"/>
                <a:cs typeface="Arial"/>
              </a:rPr>
              <a:t>Export</a:t>
            </a:r>
            <a:r>
              <a:rPr sz="1100" b="1" spc="-4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Features</a:t>
            </a:r>
            <a:endParaRPr sz="1100">
              <a:latin typeface="Arial"/>
              <a:cs typeface="Arial"/>
            </a:endParaRPr>
          </a:p>
          <a:p>
            <a:pPr marL="85725" marR="82550">
              <a:lnSpc>
                <a:spcPct val="117400"/>
              </a:lnSpc>
              <a:spcBef>
                <a:spcPts val="1175"/>
              </a:spcBef>
            </a:pPr>
            <a:r>
              <a:rPr sz="1100" dirty="0">
                <a:latin typeface="Arial MT"/>
                <a:cs typeface="Arial MT"/>
              </a:rPr>
              <a:t>Add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CSV,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Excel,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PDF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export functionality.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9025" y="3142325"/>
            <a:ext cx="3100070" cy="1202690"/>
          </a:xfrm>
          <a:custGeom>
            <a:avLst/>
            <a:gdLst/>
            <a:ahLst/>
            <a:cxnLst/>
            <a:rect l="l" t="t" r="r" b="b"/>
            <a:pathLst>
              <a:path w="3100070" h="1202689">
                <a:moveTo>
                  <a:pt x="3099899" y="1202399"/>
                </a:moveTo>
                <a:lnTo>
                  <a:pt x="0" y="1202399"/>
                </a:lnTo>
                <a:lnTo>
                  <a:pt x="0" y="0"/>
                </a:lnTo>
                <a:lnTo>
                  <a:pt x="3099899" y="0"/>
                </a:lnTo>
                <a:lnTo>
                  <a:pt x="3099899" y="1202399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79025" y="3142325"/>
            <a:ext cx="3100070" cy="1202690"/>
          </a:xfrm>
          <a:prstGeom prst="rect">
            <a:avLst/>
          </a:prstGeom>
          <a:ln w="9524">
            <a:solidFill>
              <a:srgbClr val="E7F0FD"/>
            </a:solidFill>
          </a:ln>
        </p:spPr>
        <p:txBody>
          <a:bodyPr vert="horz" wrap="square" lIns="0" tIns="679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5"/>
              </a:spcBef>
            </a:pPr>
            <a:endParaRPr sz="1100">
              <a:latin typeface="Times New Roman"/>
              <a:cs typeface="Times New Roman"/>
            </a:endParaRPr>
          </a:p>
          <a:p>
            <a:pPr marL="85725">
              <a:lnSpc>
                <a:spcPct val="100000"/>
              </a:lnSpc>
            </a:pPr>
            <a:r>
              <a:rPr sz="1100" b="1" spc="-20" dirty="0">
                <a:latin typeface="Arial"/>
                <a:cs typeface="Arial"/>
              </a:rPr>
              <a:t>Vendor</a:t>
            </a:r>
            <a:r>
              <a:rPr sz="1100" b="1" spc="-10" dirty="0">
                <a:latin typeface="Arial"/>
                <a:cs typeface="Arial"/>
              </a:rPr>
              <a:t> Insights</a:t>
            </a:r>
            <a:endParaRPr sz="1100">
              <a:latin typeface="Arial"/>
              <a:cs typeface="Arial"/>
            </a:endParaRPr>
          </a:p>
          <a:p>
            <a:pPr marL="85725" marR="622935">
              <a:lnSpc>
                <a:spcPct val="117400"/>
              </a:lnSpc>
              <a:spcBef>
                <a:spcPts val="1175"/>
              </a:spcBef>
            </a:pPr>
            <a:r>
              <a:rPr sz="1100" dirty="0">
                <a:latin typeface="Arial MT"/>
                <a:cs typeface="Arial MT"/>
              </a:rPr>
              <a:t>Create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vendor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item-</a:t>
            </a:r>
            <a:r>
              <a:rPr sz="1100" dirty="0">
                <a:latin typeface="Arial MT"/>
                <a:cs typeface="Arial MT"/>
              </a:rPr>
              <a:t>level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business insights.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572575" y="3162075"/>
            <a:ext cx="3129915" cy="1202690"/>
          </a:xfrm>
          <a:custGeom>
            <a:avLst/>
            <a:gdLst/>
            <a:ahLst/>
            <a:cxnLst/>
            <a:rect l="l" t="t" r="r" b="b"/>
            <a:pathLst>
              <a:path w="3129915" h="1202689">
                <a:moveTo>
                  <a:pt x="3129599" y="1202399"/>
                </a:moveTo>
                <a:lnTo>
                  <a:pt x="0" y="1202399"/>
                </a:lnTo>
                <a:lnTo>
                  <a:pt x="0" y="0"/>
                </a:lnTo>
                <a:lnTo>
                  <a:pt x="3129599" y="0"/>
                </a:lnTo>
                <a:lnTo>
                  <a:pt x="3129599" y="1202399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572575" y="3162075"/>
            <a:ext cx="3129915" cy="1202690"/>
          </a:xfrm>
          <a:prstGeom prst="rect">
            <a:avLst/>
          </a:prstGeom>
          <a:ln w="9524">
            <a:solidFill>
              <a:srgbClr val="E7F0FD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00">
              <a:latin typeface="Times New Roman"/>
              <a:cs typeface="Times New Roman"/>
            </a:endParaRPr>
          </a:p>
          <a:p>
            <a:pPr marL="85725">
              <a:lnSpc>
                <a:spcPct val="100000"/>
              </a:lnSpc>
            </a:pPr>
            <a:r>
              <a:rPr sz="1100" b="1" dirty="0">
                <a:latin typeface="Arial"/>
                <a:cs typeface="Arial"/>
              </a:rPr>
              <a:t>Clean</a:t>
            </a:r>
            <a:r>
              <a:rPr sz="1100" b="1" spc="-55" dirty="0">
                <a:latin typeface="Arial"/>
                <a:cs typeface="Arial"/>
              </a:rPr>
              <a:t> </a:t>
            </a:r>
            <a:r>
              <a:rPr sz="1100" b="1" spc="-25" dirty="0">
                <a:latin typeface="Arial"/>
                <a:cs typeface="Arial"/>
              </a:rPr>
              <a:t>UI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100">
              <a:latin typeface="Arial"/>
              <a:cs typeface="Arial"/>
            </a:endParaRPr>
          </a:p>
          <a:p>
            <a:pPr marL="85725">
              <a:lnSpc>
                <a:spcPct val="100000"/>
              </a:lnSpc>
            </a:pPr>
            <a:r>
              <a:rPr sz="1100" dirty="0">
                <a:latin typeface="Arial MT"/>
                <a:cs typeface="Arial MT"/>
              </a:rPr>
              <a:t>Provide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responsive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user-friendly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interface.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5575" y="1167850"/>
            <a:ext cx="458751" cy="458751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86025" y="1210850"/>
            <a:ext cx="458751" cy="458751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16751" y="1248950"/>
            <a:ext cx="513248" cy="51324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537575" y="3162073"/>
            <a:ext cx="541347" cy="541347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60824" y="3162075"/>
            <a:ext cx="541347" cy="5413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169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>
                <a:solidFill>
                  <a:srgbClr val="000000"/>
                </a:solidFill>
              </a:rPr>
              <a:t>Team</a:t>
            </a:r>
            <a:r>
              <a:rPr spc="-6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Roles</a:t>
            </a:r>
            <a:r>
              <a:rPr spc="-6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&amp;</a:t>
            </a:r>
            <a:r>
              <a:rPr spc="-5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Responsibilities:</a:t>
            </a:r>
          </a:p>
        </p:txBody>
      </p:sp>
      <p:sp>
        <p:nvSpPr>
          <p:cNvPr id="3" name="object 3"/>
          <p:cNvSpPr/>
          <p:nvPr/>
        </p:nvSpPr>
        <p:spPr>
          <a:xfrm>
            <a:off x="284699" y="1133300"/>
            <a:ext cx="1846580" cy="3633470"/>
          </a:xfrm>
          <a:custGeom>
            <a:avLst/>
            <a:gdLst/>
            <a:ahLst/>
            <a:cxnLst/>
            <a:rect l="l" t="t" r="r" b="b"/>
            <a:pathLst>
              <a:path w="1846580" h="3633470">
                <a:moveTo>
                  <a:pt x="1846074" y="3633024"/>
                </a:moveTo>
                <a:lnTo>
                  <a:pt x="0" y="3633024"/>
                </a:lnTo>
                <a:lnTo>
                  <a:pt x="0" y="0"/>
                </a:lnTo>
                <a:lnTo>
                  <a:pt x="1846074" y="0"/>
                </a:lnTo>
                <a:lnTo>
                  <a:pt x="1846074" y="3633024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84699" y="1133300"/>
            <a:ext cx="1846580" cy="3633470"/>
          </a:xfrm>
          <a:prstGeom prst="rect">
            <a:avLst/>
          </a:prstGeom>
          <a:ln w="9524">
            <a:solidFill>
              <a:srgbClr val="E7F0FD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25"/>
              </a:spcBef>
            </a:pPr>
            <a:endParaRPr sz="1100" dirty="0">
              <a:latin typeface="Times New Roman"/>
              <a:cs typeface="Times New Roman"/>
            </a:endParaRPr>
          </a:p>
          <a:p>
            <a:pPr marL="85725" marR="603885">
              <a:lnSpc>
                <a:spcPct val="204500"/>
              </a:lnSpc>
            </a:pPr>
            <a:r>
              <a:rPr sz="1100" b="1" dirty="0">
                <a:latin typeface="Arial"/>
                <a:cs typeface="Arial"/>
              </a:rPr>
              <a:t>Harini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Kaveti </a:t>
            </a:r>
            <a:r>
              <a:rPr sz="1100" b="1" dirty="0">
                <a:latin typeface="Arial"/>
                <a:cs typeface="Arial"/>
              </a:rPr>
              <a:t>Analytics</a:t>
            </a:r>
            <a:r>
              <a:rPr sz="1100" b="1" spc="-4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Module</a:t>
            </a:r>
            <a:endParaRPr sz="1100" dirty="0">
              <a:latin typeface="Arial"/>
              <a:cs typeface="Arial"/>
            </a:endParaRPr>
          </a:p>
          <a:p>
            <a:pPr marL="542925" marR="92075" indent="-313055">
              <a:lnSpc>
                <a:spcPct val="113599"/>
              </a:lnSpc>
              <a:spcBef>
                <a:spcPts val="1250"/>
              </a:spcBef>
              <a:buChar char="●"/>
              <a:tabLst>
                <a:tab pos="542925" algn="l"/>
              </a:tabLst>
            </a:pPr>
            <a:r>
              <a:rPr sz="1100" spc="-10" dirty="0">
                <a:latin typeface="Arial MT"/>
                <a:cs typeface="Arial MT"/>
              </a:rPr>
              <a:t>Designing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analytics logic</a:t>
            </a:r>
            <a:endParaRPr sz="1100" dirty="0">
              <a:latin typeface="Arial MT"/>
              <a:cs typeface="Arial MT"/>
            </a:endParaRPr>
          </a:p>
          <a:p>
            <a:pPr marL="542925" marR="200660" indent="-313055">
              <a:lnSpc>
                <a:spcPct val="113599"/>
              </a:lnSpc>
              <a:buChar char="●"/>
              <a:tabLst>
                <a:tab pos="542925" algn="l"/>
              </a:tabLst>
            </a:pPr>
            <a:r>
              <a:rPr sz="1100" dirty="0">
                <a:latin typeface="Arial MT"/>
                <a:cs typeface="Arial MT"/>
              </a:rPr>
              <a:t>Monthly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spending calculations</a:t>
            </a:r>
            <a:endParaRPr sz="1100" dirty="0">
              <a:latin typeface="Arial MT"/>
              <a:cs typeface="Arial MT"/>
            </a:endParaRPr>
          </a:p>
          <a:p>
            <a:pPr marL="542925" marR="278130" indent="-313055">
              <a:lnSpc>
                <a:spcPct val="113599"/>
              </a:lnSpc>
              <a:spcBef>
                <a:spcPts val="5"/>
              </a:spcBef>
              <a:buChar char="●"/>
              <a:tabLst>
                <a:tab pos="542925" algn="l"/>
              </a:tabLst>
            </a:pPr>
            <a:r>
              <a:rPr sz="1100" spc="-10" dirty="0">
                <a:latin typeface="Arial MT"/>
                <a:cs typeface="Arial MT"/>
              </a:rPr>
              <a:t>Vendor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item </a:t>
            </a:r>
            <a:r>
              <a:rPr sz="1100" spc="-10" dirty="0">
                <a:latin typeface="Arial MT"/>
                <a:cs typeface="Arial MT"/>
              </a:rPr>
              <a:t>statistics</a:t>
            </a:r>
            <a:endParaRPr sz="1100" dirty="0">
              <a:latin typeface="Arial MT"/>
              <a:cs typeface="Arial MT"/>
            </a:endParaRPr>
          </a:p>
          <a:p>
            <a:pPr marL="542925" marR="223520" indent="-313055">
              <a:lnSpc>
                <a:spcPct val="113599"/>
              </a:lnSpc>
              <a:buChar char="●"/>
              <a:tabLst>
                <a:tab pos="542925" algn="l"/>
              </a:tabLst>
            </a:pPr>
            <a:r>
              <a:rPr sz="1100" dirty="0">
                <a:latin typeface="Arial MT"/>
                <a:cs typeface="Arial MT"/>
              </a:rPr>
              <a:t>Data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aggregation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trends</a:t>
            </a:r>
            <a:endParaRPr sz="1100" dirty="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457075" y="1133300"/>
            <a:ext cx="1846580" cy="3722370"/>
          </a:xfrm>
          <a:custGeom>
            <a:avLst/>
            <a:gdLst/>
            <a:ahLst/>
            <a:cxnLst/>
            <a:rect l="l" t="t" r="r" b="b"/>
            <a:pathLst>
              <a:path w="1846579" h="3722370">
                <a:moveTo>
                  <a:pt x="1846074" y="3721774"/>
                </a:moveTo>
                <a:lnTo>
                  <a:pt x="0" y="3721774"/>
                </a:lnTo>
                <a:lnTo>
                  <a:pt x="0" y="0"/>
                </a:lnTo>
                <a:lnTo>
                  <a:pt x="1846074" y="0"/>
                </a:lnTo>
                <a:lnTo>
                  <a:pt x="1846074" y="3721774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457075" y="1133300"/>
            <a:ext cx="1846580" cy="3722370"/>
          </a:xfrm>
          <a:prstGeom prst="rect">
            <a:avLst/>
          </a:prstGeom>
          <a:ln w="9524">
            <a:solidFill>
              <a:srgbClr val="E7F0FD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1100">
              <a:latin typeface="Times New Roman"/>
              <a:cs typeface="Times New Roman"/>
            </a:endParaRPr>
          </a:p>
          <a:p>
            <a:pPr marL="85725" marR="375285">
              <a:lnSpc>
                <a:spcPct val="204500"/>
              </a:lnSpc>
            </a:pPr>
            <a:r>
              <a:rPr sz="1100" b="1" dirty="0">
                <a:latin typeface="Arial"/>
                <a:cs typeface="Arial"/>
              </a:rPr>
              <a:t>Abhay</a:t>
            </a:r>
            <a:r>
              <a:rPr sz="1100" b="1" spc="-6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Maurya Visualization</a:t>
            </a:r>
            <a:r>
              <a:rPr sz="1100" b="1" spc="3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Module</a:t>
            </a:r>
            <a:endParaRPr sz="1100">
              <a:latin typeface="Arial"/>
              <a:cs typeface="Arial"/>
            </a:endParaRPr>
          </a:p>
          <a:p>
            <a:pPr marL="542925" marR="402590" indent="-313055">
              <a:lnSpc>
                <a:spcPct val="113599"/>
              </a:lnSpc>
              <a:spcBef>
                <a:spcPts val="1250"/>
              </a:spcBef>
              <a:buChar char="●"/>
              <a:tabLst>
                <a:tab pos="542925" algn="l"/>
              </a:tabLst>
            </a:pPr>
            <a:r>
              <a:rPr sz="1100" spc="-10" dirty="0">
                <a:latin typeface="Arial MT"/>
                <a:cs typeface="Arial MT"/>
              </a:rPr>
              <a:t>Designing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and </a:t>
            </a:r>
            <a:r>
              <a:rPr sz="1100" spc="-10" dirty="0">
                <a:latin typeface="Arial MT"/>
                <a:cs typeface="Arial MT"/>
              </a:rPr>
              <a:t>implementing charts</a:t>
            </a:r>
            <a:endParaRPr sz="1100">
              <a:latin typeface="Arial MT"/>
              <a:cs typeface="Arial MT"/>
            </a:endParaRPr>
          </a:p>
          <a:p>
            <a:pPr marL="542925" marR="387350" indent="-313055">
              <a:lnSpc>
                <a:spcPct val="113599"/>
              </a:lnSpc>
              <a:buChar char="●"/>
              <a:tabLst>
                <a:tab pos="542925" algn="l"/>
              </a:tabLst>
            </a:pPr>
            <a:r>
              <a:rPr sz="1100" spc="-10" dirty="0">
                <a:latin typeface="Arial MT"/>
                <a:cs typeface="Arial MT"/>
              </a:rPr>
              <a:t>Creating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Plotly visualizations</a:t>
            </a:r>
            <a:endParaRPr sz="1100">
              <a:latin typeface="Arial MT"/>
              <a:cs typeface="Arial MT"/>
            </a:endParaRPr>
          </a:p>
          <a:p>
            <a:pPr marL="542925" marR="340360" indent="-313055">
              <a:lnSpc>
                <a:spcPct val="113599"/>
              </a:lnSpc>
              <a:buChar char="●"/>
              <a:tabLst>
                <a:tab pos="542925" algn="l"/>
              </a:tabLst>
            </a:pPr>
            <a:r>
              <a:rPr sz="1100" spc="-10" dirty="0">
                <a:latin typeface="Arial MT"/>
                <a:cs typeface="Arial MT"/>
              </a:rPr>
              <a:t>Ensuring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clarity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readability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629449" y="1177675"/>
            <a:ext cx="1788160" cy="3633470"/>
          </a:xfrm>
          <a:custGeom>
            <a:avLst/>
            <a:gdLst/>
            <a:ahLst/>
            <a:cxnLst/>
            <a:rect l="l" t="t" r="r" b="b"/>
            <a:pathLst>
              <a:path w="1788160" h="3633470">
                <a:moveTo>
                  <a:pt x="1788024" y="3633024"/>
                </a:moveTo>
                <a:lnTo>
                  <a:pt x="0" y="3633024"/>
                </a:lnTo>
                <a:lnTo>
                  <a:pt x="0" y="0"/>
                </a:lnTo>
                <a:lnTo>
                  <a:pt x="1788024" y="0"/>
                </a:lnTo>
                <a:lnTo>
                  <a:pt x="1788024" y="3633024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629449" y="1177675"/>
            <a:ext cx="1788160" cy="3633470"/>
          </a:xfrm>
          <a:prstGeom prst="rect">
            <a:avLst/>
          </a:prstGeom>
          <a:ln w="9524">
            <a:solidFill>
              <a:srgbClr val="E7F0FD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75"/>
              </a:spcBef>
            </a:pPr>
            <a:endParaRPr sz="1100">
              <a:latin typeface="Times New Roman"/>
              <a:cs typeface="Times New Roman"/>
            </a:endParaRPr>
          </a:p>
          <a:p>
            <a:pPr marL="85725" marR="499745">
              <a:lnSpc>
                <a:spcPct val="204500"/>
              </a:lnSpc>
            </a:pPr>
            <a:r>
              <a:rPr sz="1100" b="1" spc="-10" dirty="0">
                <a:latin typeface="Arial"/>
                <a:cs typeface="Arial"/>
              </a:rPr>
              <a:t>Vaibhavi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Vernekar Dashboard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&amp;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spc="-25" dirty="0">
                <a:latin typeface="Arial"/>
                <a:cs typeface="Arial"/>
              </a:rPr>
              <a:t>UI</a:t>
            </a:r>
            <a:endParaRPr sz="1100">
              <a:latin typeface="Arial"/>
              <a:cs typeface="Arial"/>
            </a:endParaRPr>
          </a:p>
          <a:p>
            <a:pPr marL="542925" marR="166370" indent="-313055">
              <a:lnSpc>
                <a:spcPct val="113599"/>
              </a:lnSpc>
              <a:spcBef>
                <a:spcPts val="1250"/>
              </a:spcBef>
              <a:buChar char="●"/>
              <a:tabLst>
                <a:tab pos="542925" algn="l"/>
              </a:tabLst>
            </a:pPr>
            <a:r>
              <a:rPr sz="1100" spc="-10" dirty="0">
                <a:latin typeface="Arial MT"/>
                <a:cs typeface="Arial MT"/>
              </a:rPr>
              <a:t>Structuring dashboard layout</a:t>
            </a:r>
            <a:endParaRPr sz="1100">
              <a:latin typeface="Arial MT"/>
              <a:cs typeface="Arial MT"/>
            </a:endParaRPr>
          </a:p>
          <a:p>
            <a:pPr marL="542925" marR="398780" indent="-313055">
              <a:lnSpc>
                <a:spcPct val="113599"/>
              </a:lnSpc>
              <a:buChar char="●"/>
              <a:tabLst>
                <a:tab pos="542925" algn="l"/>
              </a:tabLst>
            </a:pPr>
            <a:r>
              <a:rPr sz="1100" spc="-10" dirty="0">
                <a:latin typeface="Arial MT"/>
                <a:cs typeface="Arial MT"/>
              </a:rPr>
              <a:t>Implementing filters</a:t>
            </a:r>
            <a:endParaRPr sz="1100">
              <a:latin typeface="Arial MT"/>
              <a:cs typeface="Arial MT"/>
            </a:endParaRPr>
          </a:p>
          <a:p>
            <a:pPr marL="542925" marR="383540" indent="-313055">
              <a:lnSpc>
                <a:spcPct val="113599"/>
              </a:lnSpc>
              <a:spcBef>
                <a:spcPts val="5"/>
              </a:spcBef>
              <a:buChar char="●"/>
              <a:tabLst>
                <a:tab pos="542925" algn="l"/>
              </a:tabLst>
            </a:pPr>
            <a:r>
              <a:rPr sz="1100" spc="-10" dirty="0">
                <a:latin typeface="Arial MT"/>
                <a:cs typeface="Arial MT"/>
              </a:rPr>
              <a:t>Ensuring responsive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UI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801849" y="1177675"/>
            <a:ext cx="1788160" cy="3633470"/>
          </a:xfrm>
          <a:custGeom>
            <a:avLst/>
            <a:gdLst/>
            <a:ahLst/>
            <a:cxnLst/>
            <a:rect l="l" t="t" r="r" b="b"/>
            <a:pathLst>
              <a:path w="1788159" h="3633470">
                <a:moveTo>
                  <a:pt x="1788024" y="3633024"/>
                </a:moveTo>
                <a:lnTo>
                  <a:pt x="0" y="3633024"/>
                </a:lnTo>
                <a:lnTo>
                  <a:pt x="0" y="0"/>
                </a:lnTo>
                <a:lnTo>
                  <a:pt x="1788024" y="0"/>
                </a:lnTo>
                <a:lnTo>
                  <a:pt x="1788024" y="3633024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801849" y="1177675"/>
            <a:ext cx="1788160" cy="3633470"/>
          </a:xfrm>
          <a:prstGeom prst="rect">
            <a:avLst/>
          </a:prstGeom>
          <a:ln w="9524">
            <a:solidFill>
              <a:srgbClr val="E7F0FD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75"/>
              </a:spcBef>
            </a:pPr>
            <a:endParaRPr sz="1100" dirty="0">
              <a:latin typeface="Times New Roman"/>
              <a:cs typeface="Times New Roman"/>
            </a:endParaRPr>
          </a:p>
          <a:p>
            <a:pPr marL="85725" marR="415290">
              <a:lnSpc>
                <a:spcPct val="204500"/>
              </a:lnSpc>
            </a:pPr>
            <a:r>
              <a:rPr sz="1100" b="1" dirty="0">
                <a:latin typeface="Arial"/>
                <a:cs typeface="Arial"/>
              </a:rPr>
              <a:t>Pattem</a:t>
            </a:r>
            <a:r>
              <a:rPr sz="1100" b="1" spc="-4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Dharmika Reporting </a:t>
            </a:r>
            <a:r>
              <a:rPr sz="1100" b="1" dirty="0">
                <a:latin typeface="Arial"/>
                <a:cs typeface="Arial"/>
              </a:rPr>
              <a:t>&amp;</a:t>
            </a:r>
            <a:r>
              <a:rPr sz="1100" b="1" spc="-10" dirty="0">
                <a:latin typeface="Arial"/>
                <a:cs typeface="Arial"/>
              </a:rPr>
              <a:t> Export</a:t>
            </a:r>
            <a:endParaRPr sz="1100" dirty="0">
              <a:latin typeface="Arial"/>
              <a:cs typeface="Arial"/>
            </a:endParaRPr>
          </a:p>
          <a:p>
            <a:pPr marL="542925" marR="252729" indent="-313055">
              <a:lnSpc>
                <a:spcPct val="113599"/>
              </a:lnSpc>
              <a:spcBef>
                <a:spcPts val="1250"/>
              </a:spcBef>
              <a:buChar char="●"/>
              <a:tabLst>
                <a:tab pos="542925" algn="l"/>
              </a:tabLst>
            </a:pPr>
            <a:r>
              <a:rPr sz="1100" spc="-10" dirty="0">
                <a:latin typeface="Arial MT"/>
                <a:cs typeface="Arial MT"/>
              </a:rPr>
              <a:t>Implementing CSV/Excel/PDF exports</a:t>
            </a:r>
            <a:endParaRPr sz="1100" dirty="0">
              <a:latin typeface="Arial MT"/>
              <a:cs typeface="Arial MT"/>
            </a:endParaRPr>
          </a:p>
          <a:p>
            <a:pPr marL="542290" indent="-312420">
              <a:lnSpc>
                <a:spcPct val="100000"/>
              </a:lnSpc>
              <a:spcBef>
                <a:spcPts val="180"/>
              </a:spcBef>
              <a:buChar char="●"/>
              <a:tabLst>
                <a:tab pos="542290" algn="l"/>
              </a:tabLst>
            </a:pPr>
            <a:r>
              <a:rPr sz="1100" dirty="0">
                <a:latin typeface="Arial MT"/>
                <a:cs typeface="Arial MT"/>
              </a:rPr>
              <a:t>Structuring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reports</a:t>
            </a:r>
            <a:endParaRPr sz="1100" dirty="0">
              <a:latin typeface="Arial MT"/>
              <a:cs typeface="Arial MT"/>
            </a:endParaRPr>
          </a:p>
          <a:p>
            <a:pPr marL="542925" marR="259715" indent="-313055">
              <a:lnSpc>
                <a:spcPct val="113599"/>
              </a:lnSpc>
              <a:buChar char="●"/>
              <a:tabLst>
                <a:tab pos="542925" algn="l"/>
              </a:tabLst>
            </a:pPr>
            <a:r>
              <a:rPr sz="1100" spc="-10" dirty="0">
                <a:latin typeface="Arial MT"/>
                <a:cs typeface="Arial MT"/>
              </a:rPr>
              <a:t>Ensuring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export accuracy</a:t>
            </a:r>
            <a:endParaRPr sz="1100" dirty="0">
              <a:latin typeface="Arial MT"/>
              <a:cs typeface="Arial MT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3725" y="1133300"/>
            <a:ext cx="1788023" cy="1013208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57073" y="1133299"/>
            <a:ext cx="1846075" cy="104611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35975" y="1177675"/>
            <a:ext cx="1781500" cy="101319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01847" y="1177675"/>
            <a:ext cx="1788024" cy="10132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80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Process</a:t>
            </a:r>
            <a:r>
              <a:rPr spc="-135" dirty="0"/>
              <a:t> </a:t>
            </a:r>
            <a:r>
              <a:rPr spc="-10" dirty="0"/>
              <a:t>Flow: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4825" y="940900"/>
            <a:ext cx="5878698" cy="39191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80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System</a:t>
            </a:r>
            <a:r>
              <a:rPr spc="-90" dirty="0"/>
              <a:t> </a:t>
            </a:r>
            <a:r>
              <a:rPr spc="-10" dirty="0"/>
              <a:t>Architecture: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4925" y="990950"/>
            <a:ext cx="6089099" cy="40593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80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Dashboard</a:t>
            </a:r>
            <a:r>
              <a:rPr spc="-70" dirty="0"/>
              <a:t> </a:t>
            </a:r>
            <a:r>
              <a:rPr spc="-10" dirty="0"/>
              <a:t>Features: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72125" y="1153349"/>
            <a:ext cx="2744470" cy="1529715"/>
            <a:chOff x="272125" y="1153349"/>
            <a:chExt cx="2744470" cy="1529715"/>
          </a:xfrm>
        </p:grpSpPr>
        <p:sp>
          <p:nvSpPr>
            <p:cNvPr id="4" name="object 4"/>
            <p:cNvSpPr/>
            <p:nvPr/>
          </p:nvSpPr>
          <p:spPr>
            <a:xfrm>
              <a:off x="281650" y="1162874"/>
              <a:ext cx="2725420" cy="1510665"/>
            </a:xfrm>
            <a:custGeom>
              <a:avLst/>
              <a:gdLst/>
              <a:ahLst/>
              <a:cxnLst/>
              <a:rect l="l" t="t" r="r" b="b"/>
              <a:pathLst>
                <a:path w="2725420" h="1510664">
                  <a:moveTo>
                    <a:pt x="2473144" y="1510499"/>
                  </a:moveTo>
                  <a:lnTo>
                    <a:pt x="251755" y="1510499"/>
                  </a:lnTo>
                  <a:lnTo>
                    <a:pt x="206501" y="1506443"/>
                  </a:lnTo>
                  <a:lnTo>
                    <a:pt x="163909" y="1494749"/>
                  </a:lnTo>
                  <a:lnTo>
                    <a:pt x="124689" y="1476128"/>
                  </a:lnTo>
                  <a:lnTo>
                    <a:pt x="89552" y="1451290"/>
                  </a:lnTo>
                  <a:lnTo>
                    <a:pt x="59209" y="1420947"/>
                  </a:lnTo>
                  <a:lnTo>
                    <a:pt x="34371" y="1385810"/>
                  </a:lnTo>
                  <a:lnTo>
                    <a:pt x="15750" y="1346590"/>
                  </a:lnTo>
                  <a:lnTo>
                    <a:pt x="4056" y="1303998"/>
                  </a:lnTo>
                  <a:lnTo>
                    <a:pt x="0" y="1258744"/>
                  </a:lnTo>
                  <a:lnTo>
                    <a:pt x="0" y="251755"/>
                  </a:lnTo>
                  <a:lnTo>
                    <a:pt x="4056" y="206501"/>
                  </a:lnTo>
                  <a:lnTo>
                    <a:pt x="15750" y="163909"/>
                  </a:lnTo>
                  <a:lnTo>
                    <a:pt x="34371" y="124689"/>
                  </a:lnTo>
                  <a:lnTo>
                    <a:pt x="59209" y="89552"/>
                  </a:lnTo>
                  <a:lnTo>
                    <a:pt x="89552" y="59209"/>
                  </a:lnTo>
                  <a:lnTo>
                    <a:pt x="124689" y="34371"/>
                  </a:lnTo>
                  <a:lnTo>
                    <a:pt x="163909" y="15750"/>
                  </a:lnTo>
                  <a:lnTo>
                    <a:pt x="206501" y="4056"/>
                  </a:lnTo>
                  <a:lnTo>
                    <a:pt x="251755" y="0"/>
                  </a:lnTo>
                  <a:lnTo>
                    <a:pt x="2473144" y="0"/>
                  </a:lnTo>
                  <a:lnTo>
                    <a:pt x="2522489" y="4882"/>
                  </a:lnTo>
                  <a:lnTo>
                    <a:pt x="2569487" y="19163"/>
                  </a:lnTo>
                  <a:lnTo>
                    <a:pt x="2612818" y="42297"/>
                  </a:lnTo>
                  <a:lnTo>
                    <a:pt x="2651162" y="73737"/>
                  </a:lnTo>
                  <a:lnTo>
                    <a:pt x="2682602" y="112081"/>
                  </a:lnTo>
                  <a:lnTo>
                    <a:pt x="2705736" y="155412"/>
                  </a:lnTo>
                  <a:lnTo>
                    <a:pt x="2720017" y="202410"/>
                  </a:lnTo>
                  <a:lnTo>
                    <a:pt x="2724899" y="251755"/>
                  </a:lnTo>
                  <a:lnTo>
                    <a:pt x="2724899" y="1258744"/>
                  </a:lnTo>
                  <a:lnTo>
                    <a:pt x="2720843" y="1303998"/>
                  </a:lnTo>
                  <a:lnTo>
                    <a:pt x="2709149" y="1346590"/>
                  </a:lnTo>
                  <a:lnTo>
                    <a:pt x="2690528" y="1385810"/>
                  </a:lnTo>
                  <a:lnTo>
                    <a:pt x="2665690" y="1420947"/>
                  </a:lnTo>
                  <a:lnTo>
                    <a:pt x="2635347" y="1451290"/>
                  </a:lnTo>
                  <a:lnTo>
                    <a:pt x="2600210" y="1476128"/>
                  </a:lnTo>
                  <a:lnTo>
                    <a:pt x="2560990" y="1494749"/>
                  </a:lnTo>
                  <a:lnTo>
                    <a:pt x="2518398" y="1506443"/>
                  </a:lnTo>
                  <a:lnTo>
                    <a:pt x="2473144" y="1510499"/>
                  </a:lnTo>
                  <a:close/>
                </a:path>
              </a:pathLst>
            </a:custGeom>
            <a:solidFill>
              <a:srgbClr val="CEE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81650" y="1162874"/>
              <a:ext cx="2725420" cy="1510665"/>
            </a:xfrm>
            <a:custGeom>
              <a:avLst/>
              <a:gdLst/>
              <a:ahLst/>
              <a:cxnLst/>
              <a:rect l="l" t="t" r="r" b="b"/>
              <a:pathLst>
                <a:path w="2725420" h="1510664">
                  <a:moveTo>
                    <a:pt x="0" y="251755"/>
                  </a:moveTo>
                  <a:lnTo>
                    <a:pt x="4056" y="206501"/>
                  </a:lnTo>
                  <a:lnTo>
                    <a:pt x="15750" y="163909"/>
                  </a:lnTo>
                  <a:lnTo>
                    <a:pt x="34371" y="124689"/>
                  </a:lnTo>
                  <a:lnTo>
                    <a:pt x="59209" y="89552"/>
                  </a:lnTo>
                  <a:lnTo>
                    <a:pt x="89552" y="59209"/>
                  </a:lnTo>
                  <a:lnTo>
                    <a:pt x="124689" y="34371"/>
                  </a:lnTo>
                  <a:lnTo>
                    <a:pt x="163909" y="15750"/>
                  </a:lnTo>
                  <a:lnTo>
                    <a:pt x="206501" y="4056"/>
                  </a:lnTo>
                  <a:lnTo>
                    <a:pt x="251755" y="0"/>
                  </a:lnTo>
                  <a:lnTo>
                    <a:pt x="2473144" y="0"/>
                  </a:lnTo>
                  <a:lnTo>
                    <a:pt x="2522489" y="4882"/>
                  </a:lnTo>
                  <a:lnTo>
                    <a:pt x="2569487" y="19163"/>
                  </a:lnTo>
                  <a:lnTo>
                    <a:pt x="2612818" y="42297"/>
                  </a:lnTo>
                  <a:lnTo>
                    <a:pt x="2651162" y="73737"/>
                  </a:lnTo>
                  <a:lnTo>
                    <a:pt x="2682602" y="112081"/>
                  </a:lnTo>
                  <a:lnTo>
                    <a:pt x="2705736" y="155412"/>
                  </a:lnTo>
                  <a:lnTo>
                    <a:pt x="2720017" y="202410"/>
                  </a:lnTo>
                  <a:lnTo>
                    <a:pt x="2724899" y="251755"/>
                  </a:lnTo>
                  <a:lnTo>
                    <a:pt x="2724899" y="1258744"/>
                  </a:lnTo>
                  <a:lnTo>
                    <a:pt x="2720843" y="1303998"/>
                  </a:lnTo>
                  <a:lnTo>
                    <a:pt x="2709149" y="1346590"/>
                  </a:lnTo>
                  <a:lnTo>
                    <a:pt x="2690528" y="1385810"/>
                  </a:lnTo>
                  <a:lnTo>
                    <a:pt x="2665690" y="1420947"/>
                  </a:lnTo>
                  <a:lnTo>
                    <a:pt x="2635347" y="1451290"/>
                  </a:lnTo>
                  <a:lnTo>
                    <a:pt x="2600210" y="1476128"/>
                  </a:lnTo>
                  <a:lnTo>
                    <a:pt x="2560990" y="1494749"/>
                  </a:lnTo>
                  <a:lnTo>
                    <a:pt x="2518398" y="1506443"/>
                  </a:lnTo>
                  <a:lnTo>
                    <a:pt x="2473144" y="1510499"/>
                  </a:lnTo>
                  <a:lnTo>
                    <a:pt x="251755" y="1510499"/>
                  </a:lnTo>
                  <a:lnTo>
                    <a:pt x="206501" y="1506443"/>
                  </a:lnTo>
                  <a:lnTo>
                    <a:pt x="163909" y="1494749"/>
                  </a:lnTo>
                  <a:lnTo>
                    <a:pt x="124689" y="1476128"/>
                  </a:lnTo>
                  <a:lnTo>
                    <a:pt x="89552" y="1451290"/>
                  </a:lnTo>
                  <a:lnTo>
                    <a:pt x="59209" y="1420947"/>
                  </a:lnTo>
                  <a:lnTo>
                    <a:pt x="34371" y="1385810"/>
                  </a:lnTo>
                  <a:lnTo>
                    <a:pt x="15750" y="1346590"/>
                  </a:lnTo>
                  <a:lnTo>
                    <a:pt x="4056" y="1303998"/>
                  </a:lnTo>
                  <a:lnTo>
                    <a:pt x="0" y="1258744"/>
                  </a:lnTo>
                  <a:lnTo>
                    <a:pt x="0" y="251755"/>
                  </a:lnTo>
                  <a:close/>
                </a:path>
              </a:pathLst>
            </a:custGeom>
            <a:ln w="19049">
              <a:solidFill>
                <a:srgbClr val="5A5A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28411" y="1707749"/>
            <a:ext cx="13449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Arial"/>
                <a:cs typeface="Arial"/>
              </a:rPr>
              <a:t>Key</a:t>
            </a:r>
            <a:r>
              <a:rPr sz="1100" b="1" spc="-4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Metrics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Display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8411" y="2021439"/>
            <a:ext cx="2105660" cy="41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7400"/>
              </a:lnSpc>
              <a:spcBef>
                <a:spcPts val="100"/>
              </a:spcBef>
            </a:pPr>
            <a:r>
              <a:rPr sz="1100" spc="-10" dirty="0">
                <a:latin typeface="Arial MT"/>
                <a:cs typeface="Arial MT"/>
              </a:rPr>
              <a:t>Essential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spending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indicators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at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a </a:t>
            </a:r>
            <a:r>
              <a:rPr sz="1100" spc="-10" dirty="0">
                <a:latin typeface="Arial MT"/>
                <a:cs typeface="Arial MT"/>
              </a:rPr>
              <a:t>glance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232199" y="1168200"/>
            <a:ext cx="2560320" cy="1499870"/>
            <a:chOff x="3232199" y="1168200"/>
            <a:chExt cx="2560320" cy="1499870"/>
          </a:xfrm>
        </p:grpSpPr>
        <p:sp>
          <p:nvSpPr>
            <p:cNvPr id="9" name="object 9"/>
            <p:cNvSpPr/>
            <p:nvPr/>
          </p:nvSpPr>
          <p:spPr>
            <a:xfrm>
              <a:off x="3241724" y="1177725"/>
              <a:ext cx="2541270" cy="1480820"/>
            </a:xfrm>
            <a:custGeom>
              <a:avLst/>
              <a:gdLst/>
              <a:ahLst/>
              <a:cxnLst/>
              <a:rect l="l" t="t" r="r" b="b"/>
              <a:pathLst>
                <a:path w="2541270" h="1480820">
                  <a:moveTo>
                    <a:pt x="2293894" y="1480799"/>
                  </a:moveTo>
                  <a:lnTo>
                    <a:pt x="246804" y="1480799"/>
                  </a:lnTo>
                  <a:lnTo>
                    <a:pt x="197065" y="1475785"/>
                  </a:lnTo>
                  <a:lnTo>
                    <a:pt x="150737" y="1461404"/>
                  </a:lnTo>
                  <a:lnTo>
                    <a:pt x="108814" y="1438649"/>
                  </a:lnTo>
                  <a:lnTo>
                    <a:pt x="72287" y="1408512"/>
                  </a:lnTo>
                  <a:lnTo>
                    <a:pt x="42150" y="1371986"/>
                  </a:lnTo>
                  <a:lnTo>
                    <a:pt x="19395" y="1330062"/>
                  </a:lnTo>
                  <a:lnTo>
                    <a:pt x="5014" y="1283734"/>
                  </a:lnTo>
                  <a:lnTo>
                    <a:pt x="0" y="1233995"/>
                  </a:lnTo>
                  <a:lnTo>
                    <a:pt x="0" y="246804"/>
                  </a:lnTo>
                  <a:lnTo>
                    <a:pt x="5014" y="197065"/>
                  </a:lnTo>
                  <a:lnTo>
                    <a:pt x="19395" y="150737"/>
                  </a:lnTo>
                  <a:lnTo>
                    <a:pt x="42150" y="108813"/>
                  </a:lnTo>
                  <a:lnTo>
                    <a:pt x="72287" y="72287"/>
                  </a:lnTo>
                  <a:lnTo>
                    <a:pt x="108814" y="42150"/>
                  </a:lnTo>
                  <a:lnTo>
                    <a:pt x="150737" y="19395"/>
                  </a:lnTo>
                  <a:lnTo>
                    <a:pt x="197065" y="5014"/>
                  </a:lnTo>
                  <a:lnTo>
                    <a:pt x="246804" y="0"/>
                  </a:lnTo>
                  <a:lnTo>
                    <a:pt x="2293894" y="0"/>
                  </a:lnTo>
                  <a:lnTo>
                    <a:pt x="2342269" y="4786"/>
                  </a:lnTo>
                  <a:lnTo>
                    <a:pt x="2388343" y="18786"/>
                  </a:lnTo>
                  <a:lnTo>
                    <a:pt x="2430822" y="41466"/>
                  </a:lnTo>
                  <a:lnTo>
                    <a:pt x="2468412" y="72287"/>
                  </a:lnTo>
                  <a:lnTo>
                    <a:pt x="2499233" y="109877"/>
                  </a:lnTo>
                  <a:lnTo>
                    <a:pt x="2521913" y="152356"/>
                  </a:lnTo>
                  <a:lnTo>
                    <a:pt x="2535913" y="198430"/>
                  </a:lnTo>
                  <a:lnTo>
                    <a:pt x="2540699" y="246804"/>
                  </a:lnTo>
                  <a:lnTo>
                    <a:pt x="2540699" y="1233995"/>
                  </a:lnTo>
                  <a:lnTo>
                    <a:pt x="2535685" y="1283734"/>
                  </a:lnTo>
                  <a:lnTo>
                    <a:pt x="2521304" y="1330062"/>
                  </a:lnTo>
                  <a:lnTo>
                    <a:pt x="2498549" y="1371986"/>
                  </a:lnTo>
                  <a:lnTo>
                    <a:pt x="2468412" y="1408512"/>
                  </a:lnTo>
                  <a:lnTo>
                    <a:pt x="2431885" y="1438649"/>
                  </a:lnTo>
                  <a:lnTo>
                    <a:pt x="2389962" y="1461404"/>
                  </a:lnTo>
                  <a:lnTo>
                    <a:pt x="2343634" y="1475785"/>
                  </a:lnTo>
                  <a:lnTo>
                    <a:pt x="2293894" y="1480799"/>
                  </a:lnTo>
                  <a:close/>
                </a:path>
              </a:pathLst>
            </a:custGeom>
            <a:solidFill>
              <a:srgbClr val="CEE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41724" y="1177725"/>
              <a:ext cx="2541270" cy="1480820"/>
            </a:xfrm>
            <a:custGeom>
              <a:avLst/>
              <a:gdLst/>
              <a:ahLst/>
              <a:cxnLst/>
              <a:rect l="l" t="t" r="r" b="b"/>
              <a:pathLst>
                <a:path w="2541270" h="1480820">
                  <a:moveTo>
                    <a:pt x="0" y="246804"/>
                  </a:moveTo>
                  <a:lnTo>
                    <a:pt x="5014" y="197065"/>
                  </a:lnTo>
                  <a:lnTo>
                    <a:pt x="19395" y="150737"/>
                  </a:lnTo>
                  <a:lnTo>
                    <a:pt x="42150" y="108813"/>
                  </a:lnTo>
                  <a:lnTo>
                    <a:pt x="72287" y="72287"/>
                  </a:lnTo>
                  <a:lnTo>
                    <a:pt x="108814" y="42150"/>
                  </a:lnTo>
                  <a:lnTo>
                    <a:pt x="150737" y="19395"/>
                  </a:lnTo>
                  <a:lnTo>
                    <a:pt x="197065" y="5014"/>
                  </a:lnTo>
                  <a:lnTo>
                    <a:pt x="246804" y="0"/>
                  </a:lnTo>
                  <a:lnTo>
                    <a:pt x="2293894" y="0"/>
                  </a:lnTo>
                  <a:lnTo>
                    <a:pt x="2342269" y="4786"/>
                  </a:lnTo>
                  <a:lnTo>
                    <a:pt x="2388343" y="18786"/>
                  </a:lnTo>
                  <a:lnTo>
                    <a:pt x="2430822" y="41466"/>
                  </a:lnTo>
                  <a:lnTo>
                    <a:pt x="2468412" y="72287"/>
                  </a:lnTo>
                  <a:lnTo>
                    <a:pt x="2499233" y="109877"/>
                  </a:lnTo>
                  <a:lnTo>
                    <a:pt x="2521913" y="152356"/>
                  </a:lnTo>
                  <a:lnTo>
                    <a:pt x="2535913" y="198430"/>
                  </a:lnTo>
                  <a:lnTo>
                    <a:pt x="2540699" y="246804"/>
                  </a:lnTo>
                  <a:lnTo>
                    <a:pt x="2540699" y="1233995"/>
                  </a:lnTo>
                  <a:lnTo>
                    <a:pt x="2535685" y="1283734"/>
                  </a:lnTo>
                  <a:lnTo>
                    <a:pt x="2521304" y="1330062"/>
                  </a:lnTo>
                  <a:lnTo>
                    <a:pt x="2498549" y="1371986"/>
                  </a:lnTo>
                  <a:lnTo>
                    <a:pt x="2468412" y="1408512"/>
                  </a:lnTo>
                  <a:lnTo>
                    <a:pt x="2431885" y="1438649"/>
                  </a:lnTo>
                  <a:lnTo>
                    <a:pt x="2389962" y="1461404"/>
                  </a:lnTo>
                  <a:lnTo>
                    <a:pt x="2343634" y="1475785"/>
                  </a:lnTo>
                  <a:lnTo>
                    <a:pt x="2293894" y="1480799"/>
                  </a:lnTo>
                  <a:lnTo>
                    <a:pt x="246804" y="1480799"/>
                  </a:lnTo>
                  <a:lnTo>
                    <a:pt x="197065" y="1475785"/>
                  </a:lnTo>
                  <a:lnTo>
                    <a:pt x="150737" y="1461404"/>
                  </a:lnTo>
                  <a:lnTo>
                    <a:pt x="108814" y="1438649"/>
                  </a:lnTo>
                  <a:lnTo>
                    <a:pt x="72287" y="1408512"/>
                  </a:lnTo>
                  <a:lnTo>
                    <a:pt x="42150" y="1371986"/>
                  </a:lnTo>
                  <a:lnTo>
                    <a:pt x="19395" y="1330062"/>
                  </a:lnTo>
                  <a:lnTo>
                    <a:pt x="5014" y="1283734"/>
                  </a:lnTo>
                  <a:lnTo>
                    <a:pt x="0" y="1233995"/>
                  </a:lnTo>
                  <a:lnTo>
                    <a:pt x="0" y="246804"/>
                  </a:lnTo>
                  <a:close/>
                </a:path>
              </a:pathLst>
            </a:custGeom>
            <a:ln w="19049">
              <a:solidFill>
                <a:srgbClr val="7373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387036" y="1707749"/>
            <a:ext cx="8794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Arial"/>
                <a:cs typeface="Arial"/>
              </a:rPr>
              <a:t>Smart</a:t>
            </a:r>
            <a:r>
              <a:rPr sz="1100" b="1" spc="-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Filters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87036" y="2021439"/>
            <a:ext cx="2182495" cy="41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7400"/>
              </a:lnSpc>
              <a:spcBef>
                <a:spcPts val="100"/>
              </a:spcBef>
            </a:pPr>
            <a:r>
              <a:rPr sz="1100" dirty="0">
                <a:latin typeface="Arial MT"/>
                <a:cs typeface="Arial MT"/>
              </a:rPr>
              <a:t>Filter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by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date,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vendor,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amount,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and </a:t>
            </a:r>
            <a:r>
              <a:rPr sz="1100" dirty="0">
                <a:latin typeface="Arial MT"/>
                <a:cs typeface="Arial MT"/>
              </a:rPr>
              <a:t>payment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method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008075" y="1183049"/>
            <a:ext cx="2506980" cy="1499870"/>
            <a:chOff x="6008075" y="1183049"/>
            <a:chExt cx="2506980" cy="1499870"/>
          </a:xfrm>
        </p:grpSpPr>
        <p:sp>
          <p:nvSpPr>
            <p:cNvPr id="14" name="object 14"/>
            <p:cNvSpPr/>
            <p:nvPr/>
          </p:nvSpPr>
          <p:spPr>
            <a:xfrm>
              <a:off x="6017600" y="1192574"/>
              <a:ext cx="2487930" cy="1480820"/>
            </a:xfrm>
            <a:custGeom>
              <a:avLst/>
              <a:gdLst/>
              <a:ahLst/>
              <a:cxnLst/>
              <a:rect l="l" t="t" r="r" b="b"/>
              <a:pathLst>
                <a:path w="2487929" h="1480820">
                  <a:moveTo>
                    <a:pt x="2240794" y="1480799"/>
                  </a:moveTo>
                  <a:lnTo>
                    <a:pt x="246804" y="1480799"/>
                  </a:lnTo>
                  <a:lnTo>
                    <a:pt x="197065" y="1475785"/>
                  </a:lnTo>
                  <a:lnTo>
                    <a:pt x="150737" y="1461404"/>
                  </a:lnTo>
                  <a:lnTo>
                    <a:pt x="108814" y="1438649"/>
                  </a:lnTo>
                  <a:lnTo>
                    <a:pt x="72287" y="1408512"/>
                  </a:lnTo>
                  <a:lnTo>
                    <a:pt x="42150" y="1371986"/>
                  </a:lnTo>
                  <a:lnTo>
                    <a:pt x="19395" y="1330062"/>
                  </a:lnTo>
                  <a:lnTo>
                    <a:pt x="5014" y="1283734"/>
                  </a:lnTo>
                  <a:lnTo>
                    <a:pt x="0" y="1233995"/>
                  </a:lnTo>
                  <a:lnTo>
                    <a:pt x="0" y="246804"/>
                  </a:lnTo>
                  <a:lnTo>
                    <a:pt x="5014" y="197065"/>
                  </a:lnTo>
                  <a:lnTo>
                    <a:pt x="19395" y="150737"/>
                  </a:lnTo>
                  <a:lnTo>
                    <a:pt x="42150" y="108813"/>
                  </a:lnTo>
                  <a:lnTo>
                    <a:pt x="72287" y="72287"/>
                  </a:lnTo>
                  <a:lnTo>
                    <a:pt x="108814" y="42150"/>
                  </a:lnTo>
                  <a:lnTo>
                    <a:pt x="150737" y="19395"/>
                  </a:lnTo>
                  <a:lnTo>
                    <a:pt x="197065" y="5014"/>
                  </a:lnTo>
                  <a:lnTo>
                    <a:pt x="246804" y="0"/>
                  </a:lnTo>
                  <a:lnTo>
                    <a:pt x="2240794" y="0"/>
                  </a:lnTo>
                  <a:lnTo>
                    <a:pt x="2289168" y="4786"/>
                  </a:lnTo>
                  <a:lnTo>
                    <a:pt x="2335243" y="18786"/>
                  </a:lnTo>
                  <a:lnTo>
                    <a:pt x="2377722" y="41466"/>
                  </a:lnTo>
                  <a:lnTo>
                    <a:pt x="2415312" y="72287"/>
                  </a:lnTo>
                  <a:lnTo>
                    <a:pt x="2446133" y="109877"/>
                  </a:lnTo>
                  <a:lnTo>
                    <a:pt x="2468813" y="152356"/>
                  </a:lnTo>
                  <a:lnTo>
                    <a:pt x="2482813" y="198430"/>
                  </a:lnTo>
                  <a:lnTo>
                    <a:pt x="2487599" y="246804"/>
                  </a:lnTo>
                  <a:lnTo>
                    <a:pt x="2487599" y="1233995"/>
                  </a:lnTo>
                  <a:lnTo>
                    <a:pt x="2482585" y="1283734"/>
                  </a:lnTo>
                  <a:lnTo>
                    <a:pt x="2468204" y="1330062"/>
                  </a:lnTo>
                  <a:lnTo>
                    <a:pt x="2445449" y="1371986"/>
                  </a:lnTo>
                  <a:lnTo>
                    <a:pt x="2415312" y="1408512"/>
                  </a:lnTo>
                  <a:lnTo>
                    <a:pt x="2378785" y="1438649"/>
                  </a:lnTo>
                  <a:lnTo>
                    <a:pt x="2336862" y="1461404"/>
                  </a:lnTo>
                  <a:lnTo>
                    <a:pt x="2290534" y="1475785"/>
                  </a:lnTo>
                  <a:lnTo>
                    <a:pt x="2240794" y="1480799"/>
                  </a:lnTo>
                  <a:close/>
                </a:path>
              </a:pathLst>
            </a:custGeom>
            <a:solidFill>
              <a:srgbClr val="CEE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017600" y="1192574"/>
              <a:ext cx="2487930" cy="1480820"/>
            </a:xfrm>
            <a:custGeom>
              <a:avLst/>
              <a:gdLst/>
              <a:ahLst/>
              <a:cxnLst/>
              <a:rect l="l" t="t" r="r" b="b"/>
              <a:pathLst>
                <a:path w="2487929" h="1480820">
                  <a:moveTo>
                    <a:pt x="0" y="246804"/>
                  </a:moveTo>
                  <a:lnTo>
                    <a:pt x="5014" y="197065"/>
                  </a:lnTo>
                  <a:lnTo>
                    <a:pt x="19395" y="150737"/>
                  </a:lnTo>
                  <a:lnTo>
                    <a:pt x="42150" y="108813"/>
                  </a:lnTo>
                  <a:lnTo>
                    <a:pt x="72287" y="72287"/>
                  </a:lnTo>
                  <a:lnTo>
                    <a:pt x="108814" y="42150"/>
                  </a:lnTo>
                  <a:lnTo>
                    <a:pt x="150737" y="19395"/>
                  </a:lnTo>
                  <a:lnTo>
                    <a:pt x="197065" y="5014"/>
                  </a:lnTo>
                  <a:lnTo>
                    <a:pt x="246804" y="0"/>
                  </a:lnTo>
                  <a:lnTo>
                    <a:pt x="2240794" y="0"/>
                  </a:lnTo>
                  <a:lnTo>
                    <a:pt x="2289168" y="4786"/>
                  </a:lnTo>
                  <a:lnTo>
                    <a:pt x="2335243" y="18786"/>
                  </a:lnTo>
                  <a:lnTo>
                    <a:pt x="2377722" y="41466"/>
                  </a:lnTo>
                  <a:lnTo>
                    <a:pt x="2415312" y="72287"/>
                  </a:lnTo>
                  <a:lnTo>
                    <a:pt x="2446133" y="109877"/>
                  </a:lnTo>
                  <a:lnTo>
                    <a:pt x="2468813" y="152356"/>
                  </a:lnTo>
                  <a:lnTo>
                    <a:pt x="2482813" y="198430"/>
                  </a:lnTo>
                  <a:lnTo>
                    <a:pt x="2487599" y="246804"/>
                  </a:lnTo>
                  <a:lnTo>
                    <a:pt x="2487599" y="1233995"/>
                  </a:lnTo>
                  <a:lnTo>
                    <a:pt x="2482585" y="1283734"/>
                  </a:lnTo>
                  <a:lnTo>
                    <a:pt x="2468204" y="1330062"/>
                  </a:lnTo>
                  <a:lnTo>
                    <a:pt x="2445449" y="1371986"/>
                  </a:lnTo>
                  <a:lnTo>
                    <a:pt x="2415312" y="1408512"/>
                  </a:lnTo>
                  <a:lnTo>
                    <a:pt x="2378785" y="1438649"/>
                  </a:lnTo>
                  <a:lnTo>
                    <a:pt x="2336862" y="1461404"/>
                  </a:lnTo>
                  <a:lnTo>
                    <a:pt x="2290534" y="1475785"/>
                  </a:lnTo>
                  <a:lnTo>
                    <a:pt x="2240794" y="1480799"/>
                  </a:lnTo>
                  <a:lnTo>
                    <a:pt x="246804" y="1480799"/>
                  </a:lnTo>
                  <a:lnTo>
                    <a:pt x="197065" y="1475785"/>
                  </a:lnTo>
                  <a:lnTo>
                    <a:pt x="150737" y="1461404"/>
                  </a:lnTo>
                  <a:lnTo>
                    <a:pt x="108814" y="1438649"/>
                  </a:lnTo>
                  <a:lnTo>
                    <a:pt x="72287" y="1408512"/>
                  </a:lnTo>
                  <a:lnTo>
                    <a:pt x="42150" y="1371986"/>
                  </a:lnTo>
                  <a:lnTo>
                    <a:pt x="19395" y="1330062"/>
                  </a:lnTo>
                  <a:lnTo>
                    <a:pt x="5014" y="1283734"/>
                  </a:lnTo>
                  <a:lnTo>
                    <a:pt x="0" y="1233995"/>
                  </a:lnTo>
                  <a:lnTo>
                    <a:pt x="0" y="246804"/>
                  </a:lnTo>
                  <a:close/>
                </a:path>
              </a:pathLst>
            </a:custGeom>
            <a:ln w="19049">
              <a:solidFill>
                <a:srgbClr val="7373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162911" y="1722599"/>
            <a:ext cx="10572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Arial"/>
                <a:cs typeface="Arial"/>
              </a:rPr>
              <a:t>Monthly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Trends</a:t>
            </a:r>
            <a:endParaRPr sz="11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62911" y="2036289"/>
            <a:ext cx="2041525" cy="41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7400"/>
              </a:lnSpc>
              <a:spcBef>
                <a:spcPts val="100"/>
              </a:spcBef>
            </a:pPr>
            <a:r>
              <a:rPr sz="1100" spc="-10" dirty="0">
                <a:latin typeface="Arial MT"/>
                <a:cs typeface="Arial MT"/>
              </a:rPr>
              <a:t>Visualize spending </a:t>
            </a:r>
            <a:r>
              <a:rPr sz="1100" dirty="0">
                <a:latin typeface="Arial MT"/>
                <a:cs typeface="Arial MT"/>
              </a:rPr>
              <a:t>patterns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over time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66024" y="2945225"/>
            <a:ext cx="3820160" cy="1668145"/>
            <a:chOff x="466024" y="2945225"/>
            <a:chExt cx="3820160" cy="1668145"/>
          </a:xfrm>
        </p:grpSpPr>
        <p:sp>
          <p:nvSpPr>
            <p:cNvPr id="19" name="object 19"/>
            <p:cNvSpPr/>
            <p:nvPr/>
          </p:nvSpPr>
          <p:spPr>
            <a:xfrm>
              <a:off x="475549" y="2954750"/>
              <a:ext cx="3801110" cy="1649095"/>
            </a:xfrm>
            <a:custGeom>
              <a:avLst/>
              <a:gdLst/>
              <a:ahLst/>
              <a:cxnLst/>
              <a:rect l="l" t="t" r="r" b="b"/>
              <a:pathLst>
                <a:path w="3801110" h="1649095">
                  <a:moveTo>
                    <a:pt x="3526194" y="1648799"/>
                  </a:moveTo>
                  <a:lnTo>
                    <a:pt x="274805" y="1648799"/>
                  </a:lnTo>
                  <a:lnTo>
                    <a:pt x="225408" y="1644372"/>
                  </a:lnTo>
                  <a:lnTo>
                    <a:pt x="178916" y="1631607"/>
                  </a:lnTo>
                  <a:lnTo>
                    <a:pt x="136105" y="1611280"/>
                  </a:lnTo>
                  <a:lnTo>
                    <a:pt x="97751" y="1584169"/>
                  </a:lnTo>
                  <a:lnTo>
                    <a:pt x="64630" y="1551048"/>
                  </a:lnTo>
                  <a:lnTo>
                    <a:pt x="37519" y="1512694"/>
                  </a:lnTo>
                  <a:lnTo>
                    <a:pt x="17192" y="1469882"/>
                  </a:lnTo>
                  <a:lnTo>
                    <a:pt x="4427" y="1423391"/>
                  </a:lnTo>
                  <a:lnTo>
                    <a:pt x="0" y="1373994"/>
                  </a:lnTo>
                  <a:lnTo>
                    <a:pt x="0" y="274805"/>
                  </a:lnTo>
                  <a:lnTo>
                    <a:pt x="4427" y="225408"/>
                  </a:lnTo>
                  <a:lnTo>
                    <a:pt x="17192" y="178916"/>
                  </a:lnTo>
                  <a:lnTo>
                    <a:pt x="37519" y="136105"/>
                  </a:lnTo>
                  <a:lnTo>
                    <a:pt x="64630" y="97751"/>
                  </a:lnTo>
                  <a:lnTo>
                    <a:pt x="97751" y="64630"/>
                  </a:lnTo>
                  <a:lnTo>
                    <a:pt x="136105" y="37518"/>
                  </a:lnTo>
                  <a:lnTo>
                    <a:pt x="178916" y="17192"/>
                  </a:lnTo>
                  <a:lnTo>
                    <a:pt x="225408" y="4427"/>
                  </a:lnTo>
                  <a:lnTo>
                    <a:pt x="274805" y="0"/>
                  </a:lnTo>
                  <a:lnTo>
                    <a:pt x="3526194" y="0"/>
                  </a:lnTo>
                  <a:lnTo>
                    <a:pt x="3580056" y="5329"/>
                  </a:lnTo>
                  <a:lnTo>
                    <a:pt x="3631358" y="20918"/>
                  </a:lnTo>
                  <a:lnTo>
                    <a:pt x="3678656" y="46170"/>
                  </a:lnTo>
                  <a:lnTo>
                    <a:pt x="3720511" y="80488"/>
                  </a:lnTo>
                  <a:lnTo>
                    <a:pt x="3754829" y="122343"/>
                  </a:lnTo>
                  <a:lnTo>
                    <a:pt x="3780081" y="169641"/>
                  </a:lnTo>
                  <a:lnTo>
                    <a:pt x="3795670" y="220943"/>
                  </a:lnTo>
                  <a:lnTo>
                    <a:pt x="3800999" y="274805"/>
                  </a:lnTo>
                  <a:lnTo>
                    <a:pt x="3800999" y="1373994"/>
                  </a:lnTo>
                  <a:lnTo>
                    <a:pt x="3796572" y="1423391"/>
                  </a:lnTo>
                  <a:lnTo>
                    <a:pt x="3783807" y="1469882"/>
                  </a:lnTo>
                  <a:lnTo>
                    <a:pt x="3763480" y="1512694"/>
                  </a:lnTo>
                  <a:lnTo>
                    <a:pt x="3736369" y="1551048"/>
                  </a:lnTo>
                  <a:lnTo>
                    <a:pt x="3703248" y="1584169"/>
                  </a:lnTo>
                  <a:lnTo>
                    <a:pt x="3664894" y="1611280"/>
                  </a:lnTo>
                  <a:lnTo>
                    <a:pt x="3622082" y="1631607"/>
                  </a:lnTo>
                  <a:lnTo>
                    <a:pt x="3575591" y="1644372"/>
                  </a:lnTo>
                  <a:lnTo>
                    <a:pt x="3526194" y="1648799"/>
                  </a:lnTo>
                  <a:close/>
                </a:path>
              </a:pathLst>
            </a:custGeom>
            <a:solidFill>
              <a:srgbClr val="CEE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75549" y="2954750"/>
              <a:ext cx="3801110" cy="1649095"/>
            </a:xfrm>
            <a:custGeom>
              <a:avLst/>
              <a:gdLst/>
              <a:ahLst/>
              <a:cxnLst/>
              <a:rect l="l" t="t" r="r" b="b"/>
              <a:pathLst>
                <a:path w="3801110" h="1649095">
                  <a:moveTo>
                    <a:pt x="0" y="274805"/>
                  </a:moveTo>
                  <a:lnTo>
                    <a:pt x="4427" y="225408"/>
                  </a:lnTo>
                  <a:lnTo>
                    <a:pt x="17192" y="178916"/>
                  </a:lnTo>
                  <a:lnTo>
                    <a:pt x="37519" y="136105"/>
                  </a:lnTo>
                  <a:lnTo>
                    <a:pt x="64630" y="97751"/>
                  </a:lnTo>
                  <a:lnTo>
                    <a:pt x="97751" y="64630"/>
                  </a:lnTo>
                  <a:lnTo>
                    <a:pt x="136105" y="37518"/>
                  </a:lnTo>
                  <a:lnTo>
                    <a:pt x="178916" y="17192"/>
                  </a:lnTo>
                  <a:lnTo>
                    <a:pt x="225408" y="4427"/>
                  </a:lnTo>
                  <a:lnTo>
                    <a:pt x="274805" y="0"/>
                  </a:lnTo>
                  <a:lnTo>
                    <a:pt x="3526194" y="0"/>
                  </a:lnTo>
                  <a:lnTo>
                    <a:pt x="3580056" y="5329"/>
                  </a:lnTo>
                  <a:lnTo>
                    <a:pt x="3631358" y="20918"/>
                  </a:lnTo>
                  <a:lnTo>
                    <a:pt x="3678656" y="46170"/>
                  </a:lnTo>
                  <a:lnTo>
                    <a:pt x="3720511" y="80488"/>
                  </a:lnTo>
                  <a:lnTo>
                    <a:pt x="3754829" y="122343"/>
                  </a:lnTo>
                  <a:lnTo>
                    <a:pt x="3780081" y="169641"/>
                  </a:lnTo>
                  <a:lnTo>
                    <a:pt x="3795670" y="220943"/>
                  </a:lnTo>
                  <a:lnTo>
                    <a:pt x="3800999" y="274805"/>
                  </a:lnTo>
                  <a:lnTo>
                    <a:pt x="3800999" y="1373994"/>
                  </a:lnTo>
                  <a:lnTo>
                    <a:pt x="3796572" y="1423391"/>
                  </a:lnTo>
                  <a:lnTo>
                    <a:pt x="3783807" y="1469882"/>
                  </a:lnTo>
                  <a:lnTo>
                    <a:pt x="3763480" y="1512694"/>
                  </a:lnTo>
                  <a:lnTo>
                    <a:pt x="3736369" y="1551048"/>
                  </a:lnTo>
                  <a:lnTo>
                    <a:pt x="3703248" y="1584169"/>
                  </a:lnTo>
                  <a:lnTo>
                    <a:pt x="3664894" y="1611280"/>
                  </a:lnTo>
                  <a:lnTo>
                    <a:pt x="3622082" y="1631607"/>
                  </a:lnTo>
                  <a:lnTo>
                    <a:pt x="3575591" y="1644372"/>
                  </a:lnTo>
                  <a:lnTo>
                    <a:pt x="3526194" y="1648799"/>
                  </a:lnTo>
                  <a:lnTo>
                    <a:pt x="274805" y="1648799"/>
                  </a:lnTo>
                  <a:lnTo>
                    <a:pt x="225408" y="1644372"/>
                  </a:lnTo>
                  <a:lnTo>
                    <a:pt x="178916" y="1631607"/>
                  </a:lnTo>
                  <a:lnTo>
                    <a:pt x="136105" y="1611280"/>
                  </a:lnTo>
                  <a:lnTo>
                    <a:pt x="97751" y="1584169"/>
                  </a:lnTo>
                  <a:lnTo>
                    <a:pt x="64630" y="1551048"/>
                  </a:lnTo>
                  <a:lnTo>
                    <a:pt x="37519" y="1512694"/>
                  </a:lnTo>
                  <a:lnTo>
                    <a:pt x="17192" y="1469882"/>
                  </a:lnTo>
                  <a:lnTo>
                    <a:pt x="4427" y="1423391"/>
                  </a:lnTo>
                  <a:lnTo>
                    <a:pt x="0" y="1373994"/>
                  </a:lnTo>
                  <a:lnTo>
                    <a:pt x="0" y="274805"/>
                  </a:lnTo>
                  <a:close/>
                </a:path>
              </a:pathLst>
            </a:custGeom>
            <a:ln w="19049">
              <a:solidFill>
                <a:srgbClr val="7373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29062" y="3664024"/>
            <a:ext cx="132016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0" dirty="0">
                <a:latin typeface="Arial"/>
                <a:cs typeface="Arial"/>
              </a:rPr>
              <a:t>Vendor</a:t>
            </a:r>
            <a:r>
              <a:rPr sz="1100" b="1" spc="-10" dirty="0">
                <a:latin typeface="Arial"/>
                <a:cs typeface="Arial"/>
              </a:rPr>
              <a:t> Distribution</a:t>
            </a:r>
            <a:endParaRPr sz="11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9062" y="4006924"/>
            <a:ext cx="254127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Arial MT"/>
                <a:cs typeface="Arial MT"/>
              </a:rPr>
              <a:t>Understand </a:t>
            </a:r>
            <a:r>
              <a:rPr sz="1100" dirty="0">
                <a:latin typeface="Arial MT"/>
                <a:cs typeface="Arial MT"/>
              </a:rPr>
              <a:t>vendor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spending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breakdown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619950" y="2912674"/>
            <a:ext cx="3743325" cy="1733550"/>
            <a:chOff x="4619950" y="2912674"/>
            <a:chExt cx="3743325" cy="1733550"/>
          </a:xfrm>
        </p:grpSpPr>
        <p:sp>
          <p:nvSpPr>
            <p:cNvPr id="24" name="object 24"/>
            <p:cNvSpPr/>
            <p:nvPr/>
          </p:nvSpPr>
          <p:spPr>
            <a:xfrm>
              <a:off x="4629475" y="2922199"/>
              <a:ext cx="3724275" cy="1714500"/>
            </a:xfrm>
            <a:custGeom>
              <a:avLst/>
              <a:gdLst/>
              <a:ahLst/>
              <a:cxnLst/>
              <a:rect l="l" t="t" r="r" b="b"/>
              <a:pathLst>
                <a:path w="3724275" h="1714500">
                  <a:moveTo>
                    <a:pt x="3438544" y="1713899"/>
                  </a:moveTo>
                  <a:lnTo>
                    <a:pt x="285655" y="1713899"/>
                  </a:lnTo>
                  <a:lnTo>
                    <a:pt x="239320" y="1710161"/>
                  </a:lnTo>
                  <a:lnTo>
                    <a:pt x="195366" y="1699337"/>
                  </a:lnTo>
                  <a:lnTo>
                    <a:pt x="154380" y="1682015"/>
                  </a:lnTo>
                  <a:lnTo>
                    <a:pt x="116951" y="1658784"/>
                  </a:lnTo>
                  <a:lnTo>
                    <a:pt x="83666" y="1630233"/>
                  </a:lnTo>
                  <a:lnTo>
                    <a:pt x="55115" y="1596948"/>
                  </a:lnTo>
                  <a:lnTo>
                    <a:pt x="31884" y="1559519"/>
                  </a:lnTo>
                  <a:lnTo>
                    <a:pt x="14562" y="1518533"/>
                  </a:lnTo>
                  <a:lnTo>
                    <a:pt x="3738" y="1474579"/>
                  </a:lnTo>
                  <a:lnTo>
                    <a:pt x="0" y="1428244"/>
                  </a:lnTo>
                  <a:lnTo>
                    <a:pt x="0" y="285655"/>
                  </a:lnTo>
                  <a:lnTo>
                    <a:pt x="3738" y="239320"/>
                  </a:lnTo>
                  <a:lnTo>
                    <a:pt x="14562" y="195366"/>
                  </a:lnTo>
                  <a:lnTo>
                    <a:pt x="31884" y="154380"/>
                  </a:lnTo>
                  <a:lnTo>
                    <a:pt x="55115" y="116951"/>
                  </a:lnTo>
                  <a:lnTo>
                    <a:pt x="83666" y="83666"/>
                  </a:lnTo>
                  <a:lnTo>
                    <a:pt x="116951" y="55114"/>
                  </a:lnTo>
                  <a:lnTo>
                    <a:pt x="154380" y="31884"/>
                  </a:lnTo>
                  <a:lnTo>
                    <a:pt x="195366" y="14562"/>
                  </a:lnTo>
                  <a:lnTo>
                    <a:pt x="239320" y="3738"/>
                  </a:lnTo>
                  <a:lnTo>
                    <a:pt x="285655" y="0"/>
                  </a:lnTo>
                  <a:lnTo>
                    <a:pt x="3438544" y="0"/>
                  </a:lnTo>
                  <a:lnTo>
                    <a:pt x="3483500" y="3558"/>
                  </a:lnTo>
                  <a:lnTo>
                    <a:pt x="3526944" y="14022"/>
                  </a:lnTo>
                  <a:lnTo>
                    <a:pt x="3568109" y="31073"/>
                  </a:lnTo>
                  <a:lnTo>
                    <a:pt x="3606228" y="54394"/>
                  </a:lnTo>
                  <a:lnTo>
                    <a:pt x="3640533" y="83666"/>
                  </a:lnTo>
                  <a:lnTo>
                    <a:pt x="3669805" y="117971"/>
                  </a:lnTo>
                  <a:lnTo>
                    <a:pt x="3693126" y="156090"/>
                  </a:lnTo>
                  <a:lnTo>
                    <a:pt x="3710177" y="197255"/>
                  </a:lnTo>
                  <a:lnTo>
                    <a:pt x="3720641" y="240699"/>
                  </a:lnTo>
                  <a:lnTo>
                    <a:pt x="3724199" y="285655"/>
                  </a:lnTo>
                  <a:lnTo>
                    <a:pt x="3724199" y="1428244"/>
                  </a:lnTo>
                  <a:lnTo>
                    <a:pt x="3720461" y="1474579"/>
                  </a:lnTo>
                  <a:lnTo>
                    <a:pt x="3709637" y="1518533"/>
                  </a:lnTo>
                  <a:lnTo>
                    <a:pt x="3692315" y="1559519"/>
                  </a:lnTo>
                  <a:lnTo>
                    <a:pt x="3669084" y="1596948"/>
                  </a:lnTo>
                  <a:lnTo>
                    <a:pt x="3640533" y="1630233"/>
                  </a:lnTo>
                  <a:lnTo>
                    <a:pt x="3607248" y="1658784"/>
                  </a:lnTo>
                  <a:lnTo>
                    <a:pt x="3569819" y="1682015"/>
                  </a:lnTo>
                  <a:lnTo>
                    <a:pt x="3528833" y="1699337"/>
                  </a:lnTo>
                  <a:lnTo>
                    <a:pt x="3484879" y="1710161"/>
                  </a:lnTo>
                  <a:lnTo>
                    <a:pt x="3438544" y="1713899"/>
                  </a:lnTo>
                  <a:close/>
                </a:path>
              </a:pathLst>
            </a:custGeom>
            <a:solidFill>
              <a:srgbClr val="CEE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629475" y="2922199"/>
              <a:ext cx="3724275" cy="1714500"/>
            </a:xfrm>
            <a:custGeom>
              <a:avLst/>
              <a:gdLst/>
              <a:ahLst/>
              <a:cxnLst/>
              <a:rect l="l" t="t" r="r" b="b"/>
              <a:pathLst>
                <a:path w="3724275" h="1714500">
                  <a:moveTo>
                    <a:pt x="0" y="285655"/>
                  </a:moveTo>
                  <a:lnTo>
                    <a:pt x="3738" y="239320"/>
                  </a:lnTo>
                  <a:lnTo>
                    <a:pt x="14562" y="195366"/>
                  </a:lnTo>
                  <a:lnTo>
                    <a:pt x="31884" y="154380"/>
                  </a:lnTo>
                  <a:lnTo>
                    <a:pt x="55115" y="116951"/>
                  </a:lnTo>
                  <a:lnTo>
                    <a:pt x="83666" y="83666"/>
                  </a:lnTo>
                  <a:lnTo>
                    <a:pt x="116951" y="55114"/>
                  </a:lnTo>
                  <a:lnTo>
                    <a:pt x="154380" y="31884"/>
                  </a:lnTo>
                  <a:lnTo>
                    <a:pt x="195366" y="14562"/>
                  </a:lnTo>
                  <a:lnTo>
                    <a:pt x="239320" y="3738"/>
                  </a:lnTo>
                  <a:lnTo>
                    <a:pt x="285655" y="0"/>
                  </a:lnTo>
                  <a:lnTo>
                    <a:pt x="3438544" y="0"/>
                  </a:lnTo>
                  <a:lnTo>
                    <a:pt x="3483500" y="3558"/>
                  </a:lnTo>
                  <a:lnTo>
                    <a:pt x="3526944" y="14022"/>
                  </a:lnTo>
                  <a:lnTo>
                    <a:pt x="3568109" y="31073"/>
                  </a:lnTo>
                  <a:lnTo>
                    <a:pt x="3606228" y="54394"/>
                  </a:lnTo>
                  <a:lnTo>
                    <a:pt x="3640533" y="83666"/>
                  </a:lnTo>
                  <a:lnTo>
                    <a:pt x="3669805" y="117971"/>
                  </a:lnTo>
                  <a:lnTo>
                    <a:pt x="3693126" y="156090"/>
                  </a:lnTo>
                  <a:lnTo>
                    <a:pt x="3710177" y="197255"/>
                  </a:lnTo>
                  <a:lnTo>
                    <a:pt x="3720641" y="240699"/>
                  </a:lnTo>
                  <a:lnTo>
                    <a:pt x="3724199" y="285655"/>
                  </a:lnTo>
                  <a:lnTo>
                    <a:pt x="3724199" y="1428244"/>
                  </a:lnTo>
                  <a:lnTo>
                    <a:pt x="3720461" y="1474579"/>
                  </a:lnTo>
                  <a:lnTo>
                    <a:pt x="3709637" y="1518533"/>
                  </a:lnTo>
                  <a:lnTo>
                    <a:pt x="3692315" y="1559519"/>
                  </a:lnTo>
                  <a:lnTo>
                    <a:pt x="3669084" y="1596948"/>
                  </a:lnTo>
                  <a:lnTo>
                    <a:pt x="3640533" y="1630233"/>
                  </a:lnTo>
                  <a:lnTo>
                    <a:pt x="3607248" y="1658784"/>
                  </a:lnTo>
                  <a:lnTo>
                    <a:pt x="3569819" y="1682015"/>
                  </a:lnTo>
                  <a:lnTo>
                    <a:pt x="3528833" y="1699337"/>
                  </a:lnTo>
                  <a:lnTo>
                    <a:pt x="3484879" y="1710161"/>
                  </a:lnTo>
                  <a:lnTo>
                    <a:pt x="3438544" y="1713899"/>
                  </a:lnTo>
                  <a:lnTo>
                    <a:pt x="285655" y="1713899"/>
                  </a:lnTo>
                  <a:lnTo>
                    <a:pt x="239320" y="1710161"/>
                  </a:lnTo>
                  <a:lnTo>
                    <a:pt x="195366" y="1699337"/>
                  </a:lnTo>
                  <a:lnTo>
                    <a:pt x="154380" y="1682015"/>
                  </a:lnTo>
                  <a:lnTo>
                    <a:pt x="116951" y="1658784"/>
                  </a:lnTo>
                  <a:lnTo>
                    <a:pt x="83666" y="1630233"/>
                  </a:lnTo>
                  <a:lnTo>
                    <a:pt x="55115" y="1596948"/>
                  </a:lnTo>
                  <a:lnTo>
                    <a:pt x="31884" y="1559519"/>
                  </a:lnTo>
                  <a:lnTo>
                    <a:pt x="14562" y="1518533"/>
                  </a:lnTo>
                  <a:lnTo>
                    <a:pt x="3738" y="1474579"/>
                  </a:lnTo>
                  <a:lnTo>
                    <a:pt x="0" y="1428244"/>
                  </a:lnTo>
                  <a:lnTo>
                    <a:pt x="0" y="285655"/>
                  </a:lnTo>
                  <a:close/>
                </a:path>
              </a:pathLst>
            </a:custGeom>
            <a:ln w="19049">
              <a:solidFill>
                <a:srgbClr val="7373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786165" y="3664024"/>
            <a:ext cx="14211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0" dirty="0">
                <a:latin typeface="Arial"/>
                <a:cs typeface="Arial"/>
              </a:rPr>
              <a:t>High-</a:t>
            </a:r>
            <a:r>
              <a:rPr sz="1100" b="1" spc="-10" dirty="0">
                <a:latin typeface="Arial"/>
                <a:cs typeface="Arial"/>
              </a:rPr>
              <a:t>Value</a:t>
            </a:r>
            <a:r>
              <a:rPr sz="1100" b="1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Detection</a:t>
            </a:r>
            <a:endParaRPr sz="11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786165" y="4006924"/>
            <a:ext cx="258762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Arial MT"/>
                <a:cs typeface="Arial MT"/>
              </a:rPr>
              <a:t>Identify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unusually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large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bills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automatically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28" name="object 2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5549" y="1087749"/>
            <a:ext cx="603325" cy="603325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36875" y="1224599"/>
            <a:ext cx="431262" cy="431242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85303" y="1224587"/>
            <a:ext cx="431272" cy="431272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2875" y="3077950"/>
            <a:ext cx="557726" cy="508175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834825" y="3024400"/>
            <a:ext cx="508175" cy="5081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8400" y="261308"/>
            <a:ext cx="3006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Reporting</a:t>
            </a:r>
            <a:r>
              <a:rPr spc="-8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and</a:t>
            </a:r>
            <a:r>
              <a:rPr spc="-8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Export: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9800" y="807407"/>
            <a:ext cx="4692650" cy="516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400" dirty="0">
                <a:latin typeface="Times New Roman"/>
                <a:cs typeface="Times New Roman"/>
              </a:rPr>
              <a:t>Users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can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export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data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multiple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formats,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making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it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easy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share </a:t>
            </a:r>
            <a:r>
              <a:rPr sz="1400" dirty="0">
                <a:latin typeface="Times New Roman"/>
                <a:cs typeface="Times New Roman"/>
              </a:rPr>
              <a:t>insights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with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stakeholders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integrate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with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other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systems.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47737" y="1745062"/>
          <a:ext cx="4434840" cy="25774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17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7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609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Export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Formats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7620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900" b="1" dirty="0">
                          <a:latin typeface="Times New Roman"/>
                          <a:cs typeface="Times New Roman"/>
                        </a:rPr>
                        <a:t>Report</a:t>
                      </a:r>
                      <a:r>
                        <a:rPr sz="1900" b="1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b="1" spc="-20" dirty="0">
                          <a:latin typeface="Times New Roman"/>
                          <a:cs typeface="Times New Roman"/>
                        </a:rPr>
                        <a:t>Types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7620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1375">
                <a:tc>
                  <a:txBody>
                    <a:bodyPr/>
                    <a:lstStyle/>
                    <a:p>
                      <a:pPr marL="542925" marR="325120" indent="-328295">
                        <a:lnSpc>
                          <a:spcPct val="114999"/>
                        </a:lnSpc>
                        <a:spcBef>
                          <a:spcPts val="400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CSV</a:t>
                      </a:r>
                      <a:r>
                        <a:rPr sz="13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format</a:t>
                      </a:r>
                      <a:r>
                        <a:rPr sz="13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spreadsheet</a:t>
                      </a:r>
                      <a:r>
                        <a:rPr sz="13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analysis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476250" indent="-32829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Excel</a:t>
                      </a:r>
                      <a:r>
                        <a:rPr sz="13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format</a:t>
                      </a:r>
                      <a:r>
                        <a:rPr sz="13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structured</a:t>
                      </a:r>
                      <a:r>
                        <a:rPr sz="13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data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334010" indent="-32829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PDF</a:t>
                      </a:r>
                      <a:r>
                        <a:rPr sz="13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format</a:t>
                      </a:r>
                      <a:r>
                        <a:rPr sz="13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professional</a:t>
                      </a:r>
                      <a:r>
                        <a:rPr sz="13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sharing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5080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2925" marR="227965" indent="-328295">
                        <a:lnSpc>
                          <a:spcPct val="114999"/>
                        </a:lnSpc>
                        <a:spcBef>
                          <a:spcPts val="540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Summary</a:t>
                      </a:r>
                      <a:r>
                        <a:rPr sz="13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export</a:t>
                      </a:r>
                      <a:r>
                        <a:rPr sz="13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key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metrics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356235" indent="-32829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Detailed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export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including</a:t>
                      </a:r>
                      <a:r>
                        <a:rPr sz="13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line</a:t>
                      </a:r>
                      <a:r>
                        <a:rPr sz="13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items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6858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86388" y="0"/>
            <a:ext cx="3857611" cy="51434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5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/>
              <a:t>Timeline:</a:t>
            </a:r>
            <a:r>
              <a:rPr spc="-150" dirty="0"/>
              <a:t> </a:t>
            </a:r>
            <a:r>
              <a:rPr sz="1900" b="0" spc="-20" dirty="0">
                <a:solidFill>
                  <a:srgbClr val="000000"/>
                </a:solidFill>
                <a:latin typeface="Times New Roman"/>
                <a:cs typeface="Times New Roman"/>
              </a:rPr>
              <a:t>Weeks</a:t>
            </a:r>
            <a:r>
              <a:rPr sz="1900" b="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900" b="0" spc="-25" dirty="0">
                <a:solidFill>
                  <a:srgbClr val="000000"/>
                </a:solidFill>
                <a:latin typeface="Times New Roman"/>
                <a:cs typeface="Times New Roman"/>
              </a:rPr>
              <a:t>5–6</a:t>
            </a:r>
            <a:endParaRPr sz="1900" dirty="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  <a:spcBef>
                <a:spcPts val="570"/>
              </a:spcBef>
            </a:pPr>
            <a:r>
              <a:rPr sz="1400" b="0" dirty="0">
                <a:latin typeface="Times New Roman"/>
                <a:cs typeface="Times New Roman"/>
              </a:rPr>
              <a:t>Our</a:t>
            </a:r>
            <a:r>
              <a:rPr sz="1400" b="0" spc="-20" dirty="0">
                <a:latin typeface="Times New Roman"/>
                <a:cs typeface="Times New Roman"/>
              </a:rPr>
              <a:t> </a:t>
            </a:r>
            <a:r>
              <a:rPr sz="1400" b="0" spc="-10" dirty="0">
                <a:latin typeface="Times New Roman"/>
                <a:cs typeface="Times New Roman"/>
              </a:rPr>
              <a:t>development</a:t>
            </a:r>
            <a:r>
              <a:rPr sz="1400" b="0" spc="-25" dirty="0">
                <a:latin typeface="Times New Roman"/>
                <a:cs typeface="Times New Roman"/>
              </a:rPr>
              <a:t> </a:t>
            </a:r>
            <a:r>
              <a:rPr sz="1400" b="0" dirty="0">
                <a:latin typeface="Times New Roman"/>
                <a:cs typeface="Times New Roman"/>
              </a:rPr>
              <a:t>followed</a:t>
            </a:r>
            <a:r>
              <a:rPr sz="1400" b="0" spc="-20" dirty="0">
                <a:latin typeface="Times New Roman"/>
                <a:cs typeface="Times New Roman"/>
              </a:rPr>
              <a:t> </a:t>
            </a:r>
            <a:r>
              <a:rPr sz="1400" b="0" dirty="0">
                <a:latin typeface="Times New Roman"/>
                <a:cs typeface="Times New Roman"/>
              </a:rPr>
              <a:t>a</a:t>
            </a:r>
            <a:r>
              <a:rPr sz="1400" b="0" spc="-25" dirty="0">
                <a:latin typeface="Times New Roman"/>
                <a:cs typeface="Times New Roman"/>
              </a:rPr>
              <a:t> </a:t>
            </a:r>
            <a:r>
              <a:rPr sz="1400" b="0" dirty="0">
                <a:latin typeface="Times New Roman"/>
                <a:cs typeface="Times New Roman"/>
              </a:rPr>
              <a:t>structured</a:t>
            </a:r>
            <a:r>
              <a:rPr sz="1400" b="0" spc="-20" dirty="0">
                <a:latin typeface="Times New Roman"/>
                <a:cs typeface="Times New Roman"/>
              </a:rPr>
              <a:t> </a:t>
            </a:r>
            <a:r>
              <a:rPr sz="1400" b="0" spc="-10" dirty="0">
                <a:latin typeface="Times New Roman"/>
                <a:cs typeface="Times New Roman"/>
              </a:rPr>
              <a:t>two-</a:t>
            </a:r>
            <a:r>
              <a:rPr sz="1400" b="0" dirty="0">
                <a:latin typeface="Times New Roman"/>
                <a:cs typeface="Times New Roman"/>
              </a:rPr>
              <a:t>week</a:t>
            </a:r>
            <a:r>
              <a:rPr sz="1400" b="0" spc="-20" dirty="0">
                <a:latin typeface="Times New Roman"/>
                <a:cs typeface="Times New Roman"/>
              </a:rPr>
              <a:t> </a:t>
            </a:r>
            <a:r>
              <a:rPr sz="1400" b="0" dirty="0">
                <a:latin typeface="Times New Roman"/>
                <a:cs typeface="Times New Roman"/>
              </a:rPr>
              <a:t>timeline,</a:t>
            </a:r>
            <a:r>
              <a:rPr sz="1400" b="0" spc="-20" dirty="0">
                <a:latin typeface="Times New Roman"/>
                <a:cs typeface="Times New Roman"/>
              </a:rPr>
              <a:t> </a:t>
            </a:r>
            <a:r>
              <a:rPr sz="1400" b="0" dirty="0">
                <a:latin typeface="Times New Roman"/>
                <a:cs typeface="Times New Roman"/>
              </a:rPr>
              <a:t>balancing</a:t>
            </a:r>
            <a:r>
              <a:rPr sz="1400" b="0" spc="-15" dirty="0">
                <a:latin typeface="Times New Roman"/>
                <a:cs typeface="Times New Roman"/>
              </a:rPr>
              <a:t> </a:t>
            </a:r>
            <a:r>
              <a:rPr sz="1400" b="0" dirty="0">
                <a:latin typeface="Times New Roman"/>
                <a:cs typeface="Times New Roman"/>
              </a:rPr>
              <a:t>planning</a:t>
            </a:r>
            <a:r>
              <a:rPr sz="1400" b="0" spc="-20" dirty="0">
                <a:latin typeface="Times New Roman"/>
                <a:cs typeface="Times New Roman"/>
              </a:rPr>
              <a:t> </a:t>
            </a:r>
            <a:r>
              <a:rPr sz="1400" b="0" dirty="0">
                <a:latin typeface="Times New Roman"/>
                <a:cs typeface="Times New Roman"/>
              </a:rPr>
              <a:t>with</a:t>
            </a:r>
            <a:r>
              <a:rPr sz="1400" b="0" spc="-20" dirty="0">
                <a:latin typeface="Times New Roman"/>
                <a:cs typeface="Times New Roman"/>
              </a:rPr>
              <a:t> </a:t>
            </a:r>
            <a:r>
              <a:rPr sz="1400" b="0" spc="-10" dirty="0">
                <a:latin typeface="Times New Roman"/>
                <a:cs typeface="Times New Roman"/>
              </a:rPr>
              <a:t>execution.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7725" y="1383129"/>
            <a:ext cx="4268470" cy="3055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latin typeface="Times New Roman"/>
                <a:cs typeface="Times New Roman"/>
              </a:rPr>
              <a:t>Week</a:t>
            </a:r>
            <a:r>
              <a:rPr sz="1500" b="1" spc="-2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5:</a:t>
            </a:r>
            <a:r>
              <a:rPr sz="1500" b="1" spc="-2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Planning</a:t>
            </a:r>
            <a:r>
              <a:rPr sz="1500" b="1" spc="-2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&amp;</a:t>
            </a:r>
            <a:r>
              <a:rPr sz="1500" b="1" spc="-2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Structure</a:t>
            </a:r>
            <a:endParaRPr sz="1500">
              <a:latin typeface="Times New Roman"/>
              <a:cs typeface="Times New Roman"/>
            </a:endParaRPr>
          </a:p>
          <a:p>
            <a:pPr marL="469265" indent="-327660">
              <a:lnSpc>
                <a:spcPct val="100000"/>
              </a:lnSpc>
              <a:spcBef>
                <a:spcPts val="1475"/>
              </a:spcBef>
              <a:buFont typeface="Arial MT"/>
              <a:buChar char="●"/>
              <a:tabLst>
                <a:tab pos="469265" algn="l"/>
              </a:tabLst>
            </a:pPr>
            <a:r>
              <a:rPr sz="1300" dirty="0">
                <a:latin typeface="Times New Roman"/>
                <a:cs typeface="Times New Roman"/>
              </a:rPr>
              <a:t>Designed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the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dashboard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layout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and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structure</a:t>
            </a:r>
            <a:endParaRPr sz="1300">
              <a:latin typeface="Times New Roman"/>
              <a:cs typeface="Times New Roman"/>
            </a:endParaRPr>
          </a:p>
          <a:p>
            <a:pPr marL="469265" indent="-327660">
              <a:lnSpc>
                <a:spcPct val="100000"/>
              </a:lnSpc>
              <a:spcBef>
                <a:spcPts val="235"/>
              </a:spcBef>
              <a:buFont typeface="Arial MT"/>
              <a:buChar char="●"/>
              <a:tabLst>
                <a:tab pos="469265" algn="l"/>
              </a:tabLst>
            </a:pPr>
            <a:r>
              <a:rPr sz="1300" dirty="0">
                <a:latin typeface="Times New Roman"/>
                <a:cs typeface="Times New Roman"/>
              </a:rPr>
              <a:t>Decided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how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data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will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be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displayed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(charts,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tables,</a:t>
            </a:r>
            <a:r>
              <a:rPr sz="1300" spc="-10" dirty="0">
                <a:latin typeface="Times New Roman"/>
                <a:cs typeface="Times New Roman"/>
              </a:rPr>
              <a:t> KPIs)</a:t>
            </a:r>
            <a:endParaRPr sz="1300">
              <a:latin typeface="Times New Roman"/>
              <a:cs typeface="Times New Roman"/>
            </a:endParaRPr>
          </a:p>
          <a:p>
            <a:pPr marL="469265" indent="-327660">
              <a:lnSpc>
                <a:spcPct val="100000"/>
              </a:lnSpc>
              <a:spcBef>
                <a:spcPts val="235"/>
              </a:spcBef>
              <a:buFont typeface="Arial MT"/>
              <a:buChar char="●"/>
              <a:tabLst>
                <a:tab pos="469265" algn="l"/>
              </a:tabLst>
            </a:pPr>
            <a:r>
              <a:rPr sz="1300" dirty="0">
                <a:latin typeface="Times New Roman"/>
                <a:cs typeface="Times New Roman"/>
              </a:rPr>
              <a:t>Created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analytics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logic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for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calculations</a:t>
            </a:r>
            <a:endParaRPr sz="1300">
              <a:latin typeface="Times New Roman"/>
              <a:cs typeface="Times New Roman"/>
            </a:endParaRPr>
          </a:p>
          <a:p>
            <a:pPr marL="469265" indent="-327660">
              <a:lnSpc>
                <a:spcPct val="100000"/>
              </a:lnSpc>
              <a:spcBef>
                <a:spcPts val="235"/>
              </a:spcBef>
              <a:buFont typeface="Arial MT"/>
              <a:buChar char="●"/>
              <a:tabLst>
                <a:tab pos="469265" algn="l"/>
              </a:tabLst>
            </a:pPr>
            <a:r>
              <a:rPr sz="1300" dirty="0">
                <a:latin typeface="Times New Roman"/>
                <a:cs typeface="Times New Roman"/>
              </a:rPr>
              <a:t>Defined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data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flow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and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processing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steps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"/>
              </a:spcBef>
              <a:buFont typeface="Arial MT"/>
              <a:buChar char="●"/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500" b="1" spc="-10" dirty="0">
                <a:latin typeface="Times New Roman"/>
                <a:cs typeface="Times New Roman"/>
              </a:rPr>
              <a:t>Week</a:t>
            </a:r>
            <a:r>
              <a:rPr sz="1500" b="1" spc="-3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6:</a:t>
            </a:r>
            <a:r>
              <a:rPr sz="1500" b="1" spc="-2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Development</a:t>
            </a:r>
            <a:r>
              <a:rPr sz="1500" b="1" spc="-2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&amp;</a:t>
            </a:r>
            <a:r>
              <a:rPr sz="1500" b="1" spc="-4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Testing</a:t>
            </a:r>
            <a:endParaRPr sz="1500">
              <a:latin typeface="Times New Roman"/>
              <a:cs typeface="Times New Roman"/>
            </a:endParaRPr>
          </a:p>
          <a:p>
            <a:pPr marL="469265" indent="-327660">
              <a:lnSpc>
                <a:spcPct val="100000"/>
              </a:lnSpc>
              <a:spcBef>
                <a:spcPts val="1480"/>
              </a:spcBef>
              <a:buFont typeface="Arial MT"/>
              <a:buChar char="●"/>
              <a:tabLst>
                <a:tab pos="469265" algn="l"/>
              </a:tabLst>
            </a:pPr>
            <a:r>
              <a:rPr sz="1300" dirty="0">
                <a:latin typeface="Times New Roman"/>
                <a:cs typeface="Times New Roman"/>
              </a:rPr>
              <a:t>Implemented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KPIs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(Key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Performance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Indicators)</a:t>
            </a:r>
            <a:endParaRPr sz="1300">
              <a:latin typeface="Times New Roman"/>
              <a:cs typeface="Times New Roman"/>
            </a:endParaRPr>
          </a:p>
          <a:p>
            <a:pPr marL="469265" indent="-327660">
              <a:lnSpc>
                <a:spcPct val="100000"/>
              </a:lnSpc>
              <a:spcBef>
                <a:spcPts val="229"/>
              </a:spcBef>
              <a:buFont typeface="Arial MT"/>
              <a:buChar char="●"/>
              <a:tabLst>
                <a:tab pos="469265" algn="l"/>
              </a:tabLst>
            </a:pPr>
            <a:r>
              <a:rPr sz="1300" dirty="0">
                <a:latin typeface="Times New Roman"/>
                <a:cs typeface="Times New Roman"/>
              </a:rPr>
              <a:t>Added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export</a:t>
            </a:r>
            <a:r>
              <a:rPr sz="1300" spc="-4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functionality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(Excel/CSV</a:t>
            </a:r>
            <a:r>
              <a:rPr sz="1300" spc="-5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download)</a:t>
            </a:r>
            <a:endParaRPr sz="1300">
              <a:latin typeface="Times New Roman"/>
              <a:cs typeface="Times New Roman"/>
            </a:endParaRPr>
          </a:p>
          <a:p>
            <a:pPr marL="469265" indent="-327660">
              <a:lnSpc>
                <a:spcPct val="100000"/>
              </a:lnSpc>
              <a:spcBef>
                <a:spcPts val="235"/>
              </a:spcBef>
              <a:buFont typeface="Arial MT"/>
              <a:buChar char="●"/>
              <a:tabLst>
                <a:tab pos="469265" algn="l"/>
              </a:tabLst>
            </a:pPr>
            <a:r>
              <a:rPr sz="1300" dirty="0">
                <a:latin typeface="Times New Roman"/>
                <a:cs typeface="Times New Roman"/>
              </a:rPr>
              <a:t>Integrated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frontend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and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backend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components</a:t>
            </a:r>
            <a:endParaRPr sz="1300">
              <a:latin typeface="Times New Roman"/>
              <a:cs typeface="Times New Roman"/>
            </a:endParaRPr>
          </a:p>
          <a:p>
            <a:pPr marL="469265" indent="-327660">
              <a:lnSpc>
                <a:spcPct val="100000"/>
              </a:lnSpc>
              <a:spcBef>
                <a:spcPts val="235"/>
              </a:spcBef>
              <a:buFont typeface="Arial MT"/>
              <a:buChar char="●"/>
              <a:tabLst>
                <a:tab pos="469265" algn="l"/>
              </a:tabLst>
            </a:pPr>
            <a:r>
              <a:rPr sz="1300" dirty="0">
                <a:latin typeface="Times New Roman"/>
                <a:cs typeface="Times New Roman"/>
              </a:rPr>
              <a:t>Performed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testing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and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fixed</a:t>
            </a:r>
            <a:r>
              <a:rPr sz="1300" spc="-20" dirty="0">
                <a:latin typeface="Times New Roman"/>
                <a:cs typeface="Times New Roman"/>
              </a:rPr>
              <a:t> bugs</a:t>
            </a:r>
            <a:endParaRPr sz="1300">
              <a:latin typeface="Times New Roman"/>
              <a:cs typeface="Times New Roman"/>
            </a:endParaRPr>
          </a:p>
          <a:p>
            <a:pPr marL="469265" indent="-327660">
              <a:lnSpc>
                <a:spcPct val="100000"/>
              </a:lnSpc>
              <a:spcBef>
                <a:spcPts val="235"/>
              </a:spcBef>
              <a:buFont typeface="Arial MT"/>
              <a:buChar char="●"/>
              <a:tabLst>
                <a:tab pos="469265" algn="l"/>
              </a:tabLst>
            </a:pPr>
            <a:r>
              <a:rPr sz="1300" dirty="0">
                <a:latin typeface="Times New Roman"/>
                <a:cs typeface="Times New Roman"/>
              </a:rPr>
              <a:t>Final</a:t>
            </a:r>
            <a:r>
              <a:rPr sz="1300" spc="-4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integration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and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validation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80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Final</a:t>
            </a:r>
            <a:r>
              <a:rPr spc="-25" dirty="0"/>
              <a:t> </a:t>
            </a:r>
            <a:r>
              <a:rPr spc="-10" dirty="0"/>
              <a:t>Output: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8899" y="1073473"/>
            <a:ext cx="3796347" cy="17154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29475" y="1073474"/>
            <a:ext cx="3635375" cy="164502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76873" y="3012675"/>
            <a:ext cx="4070399" cy="18291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BAE49-CC3D-0FF0-E356-73900A74CD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123950"/>
            <a:ext cx="8153400" cy="553998"/>
          </a:xfrm>
        </p:spPr>
        <p:txBody>
          <a:bodyPr/>
          <a:lstStyle/>
          <a:p>
            <a:r>
              <a:rPr lang="en-US" sz="3600" dirty="0"/>
              <a:t>RECEIPT &amp; INVOICE DIGITIZER</a:t>
            </a:r>
            <a:endParaRPr lang="en-IN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A47FFA-0F3D-9365-5B67-8B0710E09461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2133600" y="2038350"/>
            <a:ext cx="6400800" cy="246221"/>
          </a:xfrm>
        </p:spPr>
        <p:txBody>
          <a:bodyPr/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Milestone 4: Polishing &amp; Integration</a:t>
            </a:r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51A25A-1B3F-C9E7-E87F-D449CCF132F1}"/>
              </a:ext>
            </a:extLst>
          </p:cNvPr>
          <p:cNvSpPr txBox="1"/>
          <p:nvPr/>
        </p:nvSpPr>
        <p:spPr>
          <a:xfrm>
            <a:off x="2286000" y="248959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26490">
              <a:lnSpc>
                <a:spcPct val="100000"/>
              </a:lnSpc>
            </a:pPr>
            <a:r>
              <a:rPr lang="en-IN" sz="1800" b="1" dirty="0">
                <a:solidFill>
                  <a:srgbClr val="202124"/>
                </a:solidFill>
                <a:latin typeface="Tahoma"/>
                <a:cs typeface="Tahoma"/>
              </a:rPr>
              <a:t>TEAM</a:t>
            </a:r>
            <a:r>
              <a:rPr lang="en-IN" sz="1800" b="1" spc="-80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lang="en-IN" sz="1800" b="1" spc="75" dirty="0">
                <a:solidFill>
                  <a:srgbClr val="202124"/>
                </a:solidFill>
                <a:latin typeface="Tahoma"/>
                <a:cs typeface="Tahoma"/>
              </a:rPr>
              <a:t>-</a:t>
            </a:r>
            <a:r>
              <a:rPr lang="en-IN" sz="1800" b="1" spc="-75" dirty="0">
                <a:solidFill>
                  <a:srgbClr val="202124"/>
                </a:solidFill>
                <a:latin typeface="Tahoma"/>
                <a:cs typeface="Tahoma"/>
              </a:rPr>
              <a:t> </a:t>
            </a:r>
            <a:r>
              <a:rPr lang="en-IN" sz="1800" b="1" spc="10" dirty="0">
                <a:solidFill>
                  <a:srgbClr val="202124"/>
                </a:solidFill>
                <a:latin typeface="Tahoma"/>
                <a:cs typeface="Tahoma"/>
              </a:rPr>
              <a:t>A</a:t>
            </a:r>
            <a:endParaRPr lang="en-IN" sz="1800" dirty="0">
              <a:latin typeface="Tahoma"/>
              <a:cs typeface="Tahom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D711A3-D6C8-F673-C4E5-EFAE2A77F8B6}"/>
              </a:ext>
            </a:extLst>
          </p:cNvPr>
          <p:cNvSpPr txBox="1"/>
          <p:nvPr/>
        </p:nvSpPr>
        <p:spPr>
          <a:xfrm>
            <a:off x="5638800" y="2644973"/>
            <a:ext cx="5486400" cy="1622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Members:</a:t>
            </a:r>
          </a:p>
          <a:p>
            <a:pPr algn="l">
              <a:lnSpc>
                <a:spcPct val="150000"/>
              </a:lnSpc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Abhay Maurya </a:t>
            </a:r>
          </a:p>
          <a:p>
            <a:pPr algn="l">
              <a:lnSpc>
                <a:spcPct val="150000"/>
              </a:lnSpc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Vaibhavi Vernekar</a:t>
            </a:r>
          </a:p>
          <a:p>
            <a:pPr algn="l">
              <a:lnSpc>
                <a:spcPct val="150000"/>
              </a:lnSpc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Harini Kaveti</a:t>
            </a:r>
          </a:p>
          <a:p>
            <a:pPr algn="l">
              <a:lnSpc>
                <a:spcPct val="150000"/>
              </a:lnSpc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Pattem Dharmika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949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47562-3365-4559-718C-E8CFF6D2C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38150"/>
            <a:ext cx="6854825" cy="369332"/>
          </a:xfrm>
        </p:spPr>
        <p:txBody>
          <a:bodyPr/>
          <a:lstStyle/>
          <a:p>
            <a:r>
              <a:rPr lang="en-US" dirty="0"/>
              <a:t>Problem Statement: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7CF5936-5341-3ED1-9692-AFCA3FE866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09795"/>
            <a:ext cx="8229600" cy="2314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previous milestones, the system successfully implemented OCR extraction, data storage, and dashboard analytics. However, three key challenges remained: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system performance optimization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Inefficient resource utilization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Poor integration between modules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inconsistency across platforms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latency in processing and response</a:t>
            </a:r>
          </a:p>
        </p:txBody>
      </p:sp>
    </p:spTree>
    <p:extLst>
      <p:ext uri="{BB962C8B-B14F-4D97-AF65-F5344CB8AC3E}">
        <p14:creationId xmlns:p14="http://schemas.microsoft.com/office/powerpoint/2010/main" val="36247787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4A8D0-DCC5-A7AF-9298-43BBF42B0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514350"/>
            <a:ext cx="6854825" cy="369332"/>
          </a:xfrm>
        </p:spPr>
        <p:txBody>
          <a:bodyPr/>
          <a:lstStyle/>
          <a:p>
            <a:r>
              <a:rPr lang="en-US" dirty="0"/>
              <a:t>Milestone 4: Objectives: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0808CF7-011A-7F1A-DBB8-1047DA875A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43000" y="1352550"/>
            <a:ext cx="4791696" cy="2118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Template-Based Parsing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AI Insight Generation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Search &amp; Filter System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Database Optimization &amp; Query Performance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83568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63CDF-58A2-DE74-68E2-A4F248484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099" y="261308"/>
            <a:ext cx="6854825" cy="369332"/>
          </a:xfrm>
        </p:spPr>
        <p:txBody>
          <a:bodyPr/>
          <a:lstStyle/>
          <a:p>
            <a:r>
              <a:rPr lang="en-IN" spc="-45" dirty="0">
                <a:solidFill>
                  <a:srgbClr val="000000"/>
                </a:solidFill>
              </a:rPr>
              <a:t>Team</a:t>
            </a:r>
            <a:r>
              <a:rPr lang="en-IN" spc="-60" dirty="0">
                <a:solidFill>
                  <a:srgbClr val="000000"/>
                </a:solidFill>
              </a:rPr>
              <a:t> </a:t>
            </a:r>
            <a:r>
              <a:rPr lang="en-IN" dirty="0">
                <a:solidFill>
                  <a:srgbClr val="000000"/>
                </a:solidFill>
              </a:rPr>
              <a:t>Roles</a:t>
            </a:r>
            <a:r>
              <a:rPr lang="en-IN" spc="-65" dirty="0">
                <a:solidFill>
                  <a:srgbClr val="000000"/>
                </a:solidFill>
              </a:rPr>
              <a:t> </a:t>
            </a:r>
            <a:r>
              <a:rPr lang="en-IN" dirty="0">
                <a:solidFill>
                  <a:srgbClr val="000000"/>
                </a:solidFill>
              </a:rPr>
              <a:t>&amp;</a:t>
            </a:r>
            <a:r>
              <a:rPr lang="en-IN" spc="-55" dirty="0">
                <a:solidFill>
                  <a:srgbClr val="000000"/>
                </a:solidFill>
              </a:rPr>
              <a:t> </a:t>
            </a:r>
            <a:r>
              <a:rPr lang="en-IN" spc="-10" dirty="0">
                <a:solidFill>
                  <a:srgbClr val="000000"/>
                </a:solidFill>
              </a:rPr>
              <a:t>Responsibilities: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6B575E-F074-C12D-DB1C-AE28580A67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971550"/>
            <a:ext cx="7772400" cy="4059060"/>
          </a:xfrm>
        </p:spPr>
        <p:txBody>
          <a:bodyPr/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Pattem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Dharmika - Template-Based Parsing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Responsible for improving vendor-specific extraction accuracy using deterministic templates.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Abhay Maurya - AI Insight Generation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Responsible for generating intelligent financial insights using Google Gemini AI.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Vaibhavi Vernekar - Search &amp; Filter System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Responsible for implementing dynamic dashboard filtering and SQL-based filtering logic.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Harini 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Kaveti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 Database Optimization &amp; Query Performance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Responsible for improving query efficiency, reducing unnecessary data loading, and optimizing report generation.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93371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0C957-D77F-91DC-8E39-0F5DBBE91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099" y="261308"/>
            <a:ext cx="6854825" cy="369332"/>
          </a:xfrm>
        </p:spPr>
        <p:txBody>
          <a:bodyPr/>
          <a:lstStyle/>
          <a:p>
            <a:r>
              <a:rPr lang="en-US" dirty="0"/>
              <a:t>Process Flow:</a:t>
            </a:r>
            <a:endParaRPr lang="en-IN" dirty="0"/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6C7A8390-DA8F-EB5B-7CB2-4BA54838B60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43400" y="3638550"/>
            <a:ext cx="16002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3DAA6EB1-5442-9BA9-DF8B-D09F152224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19200" y="1047750"/>
            <a:ext cx="6854824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ED04ED-B799-0DF9-D8B1-6882E0013E2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716592"/>
            <a:ext cx="6248400" cy="416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4824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C43427-E106-3BB2-A858-E228507ADE33}"/>
              </a:ext>
            </a:extLst>
          </p:cNvPr>
          <p:cNvSpPr txBox="1"/>
          <p:nvPr/>
        </p:nvSpPr>
        <p:spPr>
          <a:xfrm>
            <a:off x="685800" y="247650"/>
            <a:ext cx="6172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IN" sz="2400" b="1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r>
              <a:rPr lang="en-IN" sz="2400" spc="-10" dirty="0"/>
              <a:t>: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B4CEC4-2913-1764-E38A-FDC76447F4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773797"/>
            <a:ext cx="2781300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0466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7BC65-B9F5-A39F-51EF-59BDBDAE7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E975929-56AE-F4AA-9C3E-B6F2297394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9099" y="261308"/>
            <a:ext cx="6854825" cy="506549"/>
          </a:xfrm>
          <a:prstGeom prst="rect">
            <a:avLst/>
          </a:prstGeom>
        </p:spPr>
        <p:txBody>
          <a:bodyPr vert="horz" wrap="square" lIns="0" tIns="135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/>
              <a:t>Timeline:</a:t>
            </a:r>
            <a:r>
              <a:rPr spc="-150" dirty="0"/>
              <a:t> </a:t>
            </a:r>
            <a:r>
              <a:rPr sz="1900" b="0" spc="-20" dirty="0">
                <a:solidFill>
                  <a:srgbClr val="000000"/>
                </a:solidFill>
                <a:latin typeface="Times New Roman"/>
                <a:cs typeface="Times New Roman"/>
              </a:rPr>
              <a:t>Weeks</a:t>
            </a:r>
            <a:r>
              <a:rPr sz="1900" b="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1900" b="0" spc="-25" dirty="0">
                <a:solidFill>
                  <a:srgbClr val="000000"/>
                </a:solidFill>
              </a:rPr>
              <a:t>7</a:t>
            </a:r>
            <a:r>
              <a:rPr sz="1900" b="0" spc="-25" dirty="0">
                <a:solidFill>
                  <a:srgbClr val="000000"/>
                </a:solidFill>
                <a:latin typeface="Times New Roman"/>
                <a:cs typeface="Times New Roman"/>
              </a:rPr>
              <a:t>–</a:t>
            </a:r>
            <a:r>
              <a:rPr lang="en-US" sz="1900" b="0" spc="-25" dirty="0">
                <a:solidFill>
                  <a:srgbClr val="000000"/>
                </a:solidFill>
                <a:latin typeface="Times New Roman"/>
                <a:cs typeface="Times New Roman"/>
              </a:rPr>
              <a:t>8</a:t>
            </a:r>
            <a:endParaRPr sz="1900" dirty="0">
              <a:latin typeface="Times New Roman"/>
              <a:cs typeface="Times New Roman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6A0C7EC-FF5C-5BB9-4AC6-540600E72923}"/>
              </a:ext>
            </a:extLst>
          </p:cNvPr>
          <p:cNvSpPr txBox="1"/>
          <p:nvPr/>
        </p:nvSpPr>
        <p:spPr>
          <a:xfrm>
            <a:off x="533400" y="971550"/>
            <a:ext cx="6728875" cy="34676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500" dirty="0">
              <a:latin typeface="Times New Roman"/>
              <a:cs typeface="Times New Roman"/>
            </a:endParaRP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7: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Template parsing integration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SQL filter implementation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AI insight integration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8: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Query optimization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Indexing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Performance testing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Final integration &amp; review</a:t>
            </a:r>
          </a:p>
          <a:p>
            <a:pPr marL="141605">
              <a:lnSpc>
                <a:spcPct val="100000"/>
              </a:lnSpc>
              <a:spcBef>
                <a:spcPts val="1475"/>
              </a:spcBef>
              <a:tabLst>
                <a:tab pos="469265" algn="l"/>
              </a:tabLst>
            </a:pPr>
            <a:endParaRPr sz="13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945392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7F74B-4A23-F593-962E-D7AC24926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099" y="261308"/>
            <a:ext cx="6854825" cy="738664"/>
          </a:xfrm>
        </p:spPr>
        <p:txBody>
          <a:bodyPr/>
          <a:lstStyle/>
          <a:p>
            <a:r>
              <a:rPr lang="en-US" dirty="0"/>
              <a:t>Final Output:</a:t>
            </a:r>
            <a:br>
              <a:rPr lang="en-US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A45EA0-6BE4-AF68-AC8E-A1728308ED95}"/>
              </a:ext>
            </a:extLst>
          </p:cNvPr>
          <p:cNvSpPr txBox="1"/>
          <p:nvPr/>
        </p:nvSpPr>
        <p:spPr>
          <a:xfrm>
            <a:off x="723900" y="742950"/>
            <a:ext cx="7696200" cy="3893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Polishing &amp; Integration (Final Output)</a:t>
            </a:r>
          </a:p>
          <a:p>
            <a:pPr>
              <a:buNone/>
            </a:pP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Improving extraction accuracy using vendor-based templates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Implementing SQL-based search and filter for better performance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Optimizing database queries and reports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Integrating AI-powered intelligent financial insights</a:t>
            </a:r>
          </a:p>
          <a:p>
            <a:pPr>
              <a:lnSpc>
                <a:spcPct val="150000"/>
              </a:lnSpc>
              <a:buNone/>
            </a:pP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1B8F5C-01E6-11F9-48AB-7255308F563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828432"/>
            <a:ext cx="3560215" cy="16087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A0D9B1-9120-FFDD-9CFD-6DDCFE8A8B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00" y="2709616"/>
            <a:ext cx="3854649" cy="1746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4081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690CD-78E3-FAAD-8A64-06E324BDC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0" y="2190750"/>
            <a:ext cx="6854825" cy="492443"/>
          </a:xfrm>
        </p:spPr>
        <p:txBody>
          <a:bodyPr/>
          <a:lstStyle/>
          <a:p>
            <a:r>
              <a:rPr lang="en-US" sz="3200" dirty="0"/>
              <a:t>Thank You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940888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</TotalTime>
  <Words>708</Words>
  <Application>Microsoft Office PowerPoint</Application>
  <PresentationFormat>On-screen Show (16:9)</PresentationFormat>
  <Paragraphs>177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Arial MT</vt:lpstr>
      <vt:lpstr>Calibri</vt:lpstr>
      <vt:lpstr>Tahoma</vt:lpstr>
      <vt:lpstr>Times New Roman</vt:lpstr>
      <vt:lpstr>Wingdings</vt:lpstr>
      <vt:lpstr>Office Theme</vt:lpstr>
      <vt:lpstr>RECEIPT AND INVOICE DIGITIZER</vt:lpstr>
      <vt:lpstr>Problem Statement :</vt:lpstr>
      <vt:lpstr>Milestone 3 Objectives:</vt:lpstr>
      <vt:lpstr>Team Roles &amp; Responsibilities:</vt:lpstr>
      <vt:lpstr>Process Flow:</vt:lpstr>
      <vt:lpstr>System Architecture:</vt:lpstr>
      <vt:lpstr>Dashboard Features:</vt:lpstr>
      <vt:lpstr>Reporting and Export:</vt:lpstr>
      <vt:lpstr>Timeline: Weeks 5–6 Our development followed a structured two-week timeline, balancing planning with execution.</vt:lpstr>
      <vt:lpstr>Final Output:</vt:lpstr>
      <vt:lpstr>RECEIPT &amp; INVOICE DIGITIZER</vt:lpstr>
      <vt:lpstr>Problem Statement:</vt:lpstr>
      <vt:lpstr>Milestone 4: Objectives:</vt:lpstr>
      <vt:lpstr>Team Roles &amp; Responsibilities:</vt:lpstr>
      <vt:lpstr>Process Flow:</vt:lpstr>
      <vt:lpstr>PowerPoint Presentation</vt:lpstr>
      <vt:lpstr>Timeline: Weeks 7–8</vt:lpstr>
      <vt:lpstr>Final Output: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Milestone-3 Presentation</dc:title>
  <dc:creator>HARINI_KAVETI</dc:creator>
  <cp:lastModifiedBy>HARINI KAVETI</cp:lastModifiedBy>
  <cp:revision>2</cp:revision>
  <dcterms:created xsi:type="dcterms:W3CDTF">2026-02-15T06:43:33Z</dcterms:created>
  <dcterms:modified xsi:type="dcterms:W3CDTF">2026-02-16T05:56:52Z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2026-02-15T00:00:00Z</vt:filetime>
  </property>
  <property fmtid="{D5CDD505-2E9C-101B-9397-08002B2CF9AE}" pid="3" name="Creator">
    <vt:lpwstr>Google</vt:lpwstr>
  </property>
  <property fmtid="{D5CDD505-2E9C-101B-9397-08002B2CF9AE}" pid="4" name="LastSaved">
    <vt:filetime>2026-02-15T00:00:00Z</vt:filetime>
  </property>
</Properties>
</file>