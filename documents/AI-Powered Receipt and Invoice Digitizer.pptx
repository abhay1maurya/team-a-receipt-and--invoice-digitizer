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Inter SemiBold"/>
      <p:regular r:id="rId24"/>
      <p:bold r:id="rId25"/>
      <p:italic r:id="rId26"/>
      <p:boldItalic r:id="rId27"/>
    </p:embeddedFont>
    <p:embeddedFont>
      <p:font typeface="Poppins"/>
      <p:regular r:id="rId28"/>
      <p:bold r:id="rId29"/>
      <p:italic r:id="rId30"/>
      <p:boldItalic r:id="rId31"/>
    </p:embeddedFont>
    <p:embeddedFont>
      <p:font typeface="Inter"/>
      <p:regular r:id="rId32"/>
      <p:bold r:id="rId33"/>
      <p:italic r:id="rId34"/>
      <p:boldItalic r:id="rId35"/>
    </p:embeddedFont>
    <p:embeddedFont>
      <p:font typeface="Poppins SemiBold"/>
      <p:regular r:id="rId36"/>
      <p:bold r:id="rId37"/>
      <p:italic r:id="rId38"/>
      <p:boldItalic r:id="rId3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InterSemiBold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InterSemiBold-italic.fntdata"/><Relationship Id="rId25" Type="http://schemas.openxmlformats.org/officeDocument/2006/relationships/font" Target="fonts/InterSemiBold-bold.fntdata"/><Relationship Id="rId28" Type="http://schemas.openxmlformats.org/officeDocument/2006/relationships/font" Target="fonts/Poppins-regular.fntdata"/><Relationship Id="rId27" Type="http://schemas.openxmlformats.org/officeDocument/2006/relationships/font" Target="fonts/InterSemiBold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Poppins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Poppins-boldItalic.fntdata"/><Relationship Id="rId30" Type="http://schemas.openxmlformats.org/officeDocument/2006/relationships/font" Target="fonts/Poppins-italic.fntdata"/><Relationship Id="rId11" Type="http://schemas.openxmlformats.org/officeDocument/2006/relationships/slide" Target="slides/slide6.xml"/><Relationship Id="rId33" Type="http://schemas.openxmlformats.org/officeDocument/2006/relationships/font" Target="fonts/Inter-bold.fntdata"/><Relationship Id="rId10" Type="http://schemas.openxmlformats.org/officeDocument/2006/relationships/slide" Target="slides/slide5.xml"/><Relationship Id="rId32" Type="http://schemas.openxmlformats.org/officeDocument/2006/relationships/font" Target="fonts/Inter-regular.fntdata"/><Relationship Id="rId13" Type="http://schemas.openxmlformats.org/officeDocument/2006/relationships/slide" Target="slides/slide8.xml"/><Relationship Id="rId35" Type="http://schemas.openxmlformats.org/officeDocument/2006/relationships/font" Target="fonts/Inter-boldItalic.fntdata"/><Relationship Id="rId12" Type="http://schemas.openxmlformats.org/officeDocument/2006/relationships/slide" Target="slides/slide7.xml"/><Relationship Id="rId34" Type="http://schemas.openxmlformats.org/officeDocument/2006/relationships/font" Target="fonts/Inter-italic.fntdata"/><Relationship Id="rId15" Type="http://schemas.openxmlformats.org/officeDocument/2006/relationships/slide" Target="slides/slide10.xml"/><Relationship Id="rId37" Type="http://schemas.openxmlformats.org/officeDocument/2006/relationships/font" Target="fonts/PoppinsSemiBold-bold.fntdata"/><Relationship Id="rId14" Type="http://schemas.openxmlformats.org/officeDocument/2006/relationships/slide" Target="slides/slide9.xml"/><Relationship Id="rId36" Type="http://schemas.openxmlformats.org/officeDocument/2006/relationships/font" Target="fonts/PoppinsSemiBold-regular.fntdata"/><Relationship Id="rId17" Type="http://schemas.openxmlformats.org/officeDocument/2006/relationships/slide" Target="slides/slide12.xml"/><Relationship Id="rId39" Type="http://schemas.openxmlformats.org/officeDocument/2006/relationships/font" Target="fonts/PoppinsSemiBold-boldItalic.fntdata"/><Relationship Id="rId16" Type="http://schemas.openxmlformats.org/officeDocument/2006/relationships/slide" Target="slides/slide11.xml"/><Relationship Id="rId38" Type="http://schemas.openxmlformats.org/officeDocument/2006/relationships/font" Target="fonts/PoppinsSemiBold-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bf07f457d4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bf07f457d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bf07f457d4_0_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bf07f457d4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bf07f457d4_0_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bf07f457d4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bf29147882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3bf2914788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3bf29147882_0_1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5" name="Google Shape;345;g3bf29147882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1" name="Google Shape;351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png"/><Relationship Id="rId4" Type="http://schemas.openxmlformats.org/officeDocument/2006/relationships/image" Target="../media/image30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png"/><Relationship Id="rId4" Type="http://schemas.openxmlformats.org/officeDocument/2006/relationships/image" Target="../media/image1.png"/><Relationship Id="rId5" Type="http://schemas.openxmlformats.org/officeDocument/2006/relationships/image" Target="../media/image16.png"/><Relationship Id="rId6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png"/><Relationship Id="rId4" Type="http://schemas.openxmlformats.org/officeDocument/2006/relationships/image" Target="../media/image29.png"/><Relationship Id="rId9" Type="http://schemas.openxmlformats.org/officeDocument/2006/relationships/image" Target="../media/image9.png"/><Relationship Id="rId5" Type="http://schemas.openxmlformats.org/officeDocument/2006/relationships/image" Target="../media/image5.png"/><Relationship Id="rId6" Type="http://schemas.openxmlformats.org/officeDocument/2006/relationships/image" Target="../media/image12.png"/><Relationship Id="rId7" Type="http://schemas.openxmlformats.org/officeDocument/2006/relationships/image" Target="../media/image4.png"/><Relationship Id="rId8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5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8.png"/><Relationship Id="rId10" Type="http://schemas.openxmlformats.org/officeDocument/2006/relationships/image" Target="../media/image25.jpg"/><Relationship Id="rId9" Type="http://schemas.openxmlformats.org/officeDocument/2006/relationships/image" Target="../media/image14.png"/><Relationship Id="rId5" Type="http://schemas.openxmlformats.org/officeDocument/2006/relationships/image" Target="../media/image27.png"/><Relationship Id="rId6" Type="http://schemas.openxmlformats.org/officeDocument/2006/relationships/image" Target="../media/image32.png"/><Relationship Id="rId7" Type="http://schemas.openxmlformats.org/officeDocument/2006/relationships/image" Target="../media/image6.png"/><Relationship Id="rId8" Type="http://schemas.openxmlformats.org/officeDocument/2006/relationships/image" Target="../media/image13.png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image" Target="../media/image31.png"/><Relationship Id="rId10" Type="http://schemas.openxmlformats.org/officeDocument/2006/relationships/image" Target="../media/image38.png"/><Relationship Id="rId13" Type="http://schemas.openxmlformats.org/officeDocument/2006/relationships/image" Target="../media/image34.png"/><Relationship Id="rId1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18.png"/><Relationship Id="rId9" Type="http://schemas.openxmlformats.org/officeDocument/2006/relationships/image" Target="../media/image21.png"/><Relationship Id="rId15" Type="http://schemas.openxmlformats.org/officeDocument/2006/relationships/image" Target="../media/image19.png"/><Relationship Id="rId14" Type="http://schemas.openxmlformats.org/officeDocument/2006/relationships/image" Target="../media/image26.png"/><Relationship Id="rId17" Type="http://schemas.openxmlformats.org/officeDocument/2006/relationships/image" Target="../media/image22.png"/><Relationship Id="rId16" Type="http://schemas.openxmlformats.org/officeDocument/2006/relationships/image" Target="../media/image37.png"/><Relationship Id="rId5" Type="http://schemas.openxmlformats.org/officeDocument/2006/relationships/image" Target="../media/image17.png"/><Relationship Id="rId19" Type="http://schemas.openxmlformats.org/officeDocument/2006/relationships/image" Target="../media/image36.png"/><Relationship Id="rId6" Type="http://schemas.openxmlformats.org/officeDocument/2006/relationships/image" Target="../media/image20.png"/><Relationship Id="rId18" Type="http://schemas.openxmlformats.org/officeDocument/2006/relationships/image" Target="../media/image41.png"/><Relationship Id="rId7" Type="http://schemas.openxmlformats.org/officeDocument/2006/relationships/image" Target="../media/image24.png"/><Relationship Id="rId8" Type="http://schemas.openxmlformats.org/officeDocument/2006/relationships/image" Target="../media/image3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Relationship Id="rId4" Type="http://schemas.openxmlformats.org/officeDocument/2006/relationships/image" Target="../media/image63.png"/><Relationship Id="rId9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28.png"/><Relationship Id="rId7" Type="http://schemas.openxmlformats.org/officeDocument/2006/relationships/image" Target="../media/image64.png"/><Relationship Id="rId8" Type="http://schemas.openxmlformats.org/officeDocument/2006/relationships/image" Target="../media/image43.png"/></Relationships>
</file>

<file path=ppt/slides/_rels/slide8.xml.rels><?xml version="1.0" encoding="UTF-8" standalone="yes"?><Relationships xmlns="http://schemas.openxmlformats.org/package/2006/relationships"><Relationship Id="rId11" Type="http://schemas.openxmlformats.org/officeDocument/2006/relationships/image" Target="../media/image44.png"/><Relationship Id="rId10" Type="http://schemas.openxmlformats.org/officeDocument/2006/relationships/image" Target="../media/image72.png"/><Relationship Id="rId13" Type="http://schemas.openxmlformats.org/officeDocument/2006/relationships/image" Target="../media/image54.png"/><Relationship Id="rId12" Type="http://schemas.openxmlformats.org/officeDocument/2006/relationships/image" Target="../media/image52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Relationship Id="rId4" Type="http://schemas.openxmlformats.org/officeDocument/2006/relationships/image" Target="../media/image35.png"/><Relationship Id="rId9" Type="http://schemas.openxmlformats.org/officeDocument/2006/relationships/image" Target="../media/image49.png"/><Relationship Id="rId5" Type="http://schemas.openxmlformats.org/officeDocument/2006/relationships/image" Target="../media/image48.png"/><Relationship Id="rId6" Type="http://schemas.openxmlformats.org/officeDocument/2006/relationships/image" Target="../media/image46.png"/><Relationship Id="rId7" Type="http://schemas.openxmlformats.org/officeDocument/2006/relationships/image" Target="../media/image51.png"/><Relationship Id="rId8" Type="http://schemas.openxmlformats.org/officeDocument/2006/relationships/image" Target="../media/image4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image2.png"/><Relationship Id="rId5" Type="http://schemas.openxmlformats.org/officeDocument/2006/relationships/image" Target="../media/image5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1.png"/><Relationship Id="rId5" Type="http://schemas.openxmlformats.org/officeDocument/2006/relationships/image" Target="../media/image53.png"/><Relationship Id="rId6" Type="http://schemas.openxmlformats.org/officeDocument/2006/relationships/image" Target="../media/image47.png"/><Relationship Id="rId7" Type="http://schemas.openxmlformats.org/officeDocument/2006/relationships/image" Target="../media/image2.png"/><Relationship Id="rId8" Type="http://schemas.openxmlformats.org/officeDocument/2006/relationships/image" Target="../media/image45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0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0.png"/><Relationship Id="rId4" Type="http://schemas.openxmlformats.org/officeDocument/2006/relationships/image" Target="../media/image60.png"/><Relationship Id="rId5" Type="http://schemas.openxmlformats.org/officeDocument/2006/relationships/image" Target="../media/image69.png"/><Relationship Id="rId6" Type="http://schemas.openxmlformats.org/officeDocument/2006/relationships/image" Target="../media/image65.png"/><Relationship Id="rId7" Type="http://schemas.openxmlformats.org/officeDocument/2006/relationships/image" Target="../media/image7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Relationship Id="rId4" Type="http://schemas.openxmlformats.org/officeDocument/2006/relationships/image" Target="../media/image68.png"/><Relationship Id="rId9" Type="http://schemas.openxmlformats.org/officeDocument/2006/relationships/image" Target="../media/image59.png"/><Relationship Id="rId5" Type="http://schemas.openxmlformats.org/officeDocument/2006/relationships/image" Target="../media/image55.png"/><Relationship Id="rId6" Type="http://schemas.openxmlformats.org/officeDocument/2006/relationships/image" Target="../media/image76.png"/><Relationship Id="rId7" Type="http://schemas.openxmlformats.org/officeDocument/2006/relationships/image" Target="../media/image67.png"/><Relationship Id="rId8" Type="http://schemas.openxmlformats.org/officeDocument/2006/relationships/image" Target="../media/image6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4.png"/><Relationship Id="rId4" Type="http://schemas.openxmlformats.org/officeDocument/2006/relationships/image" Target="../media/image77.png"/><Relationship Id="rId5" Type="http://schemas.openxmlformats.org/officeDocument/2006/relationships/image" Target="../media/image78.png"/><Relationship Id="rId6" Type="http://schemas.openxmlformats.org/officeDocument/2006/relationships/image" Target="../media/image80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75.png"/><Relationship Id="rId5" Type="http://schemas.openxmlformats.org/officeDocument/2006/relationships/image" Target="../media/image73.png"/><Relationship Id="rId6" Type="http://schemas.openxmlformats.org/officeDocument/2006/relationships/image" Target="../media/image66.png"/></Relationships>
</file>

<file path=ppt/slides/_rels/slide17.xml.rels><?xml version="1.0" encoding="UTF-8" standalone="yes"?><Relationships xmlns="http://schemas.openxmlformats.org/package/2006/relationships"><Relationship Id="rId11" Type="http://schemas.openxmlformats.org/officeDocument/2006/relationships/hyperlink" Target="https://plotly.com/python/" TargetMode="External"/><Relationship Id="rId10" Type="http://schemas.openxmlformats.org/officeDocument/2006/relationships/hyperlink" Target="https://docs.streamlit.io" TargetMode="External"/><Relationship Id="rId12" Type="http://schemas.openxmlformats.org/officeDocument/2006/relationships/hyperlink" Target="https://plotly.com/python/" TargetMode="External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cv.org" TargetMode="External"/><Relationship Id="rId4" Type="http://schemas.openxmlformats.org/officeDocument/2006/relationships/hyperlink" Target="https://opencv.org" TargetMode="External"/><Relationship Id="rId9" Type="http://schemas.openxmlformats.org/officeDocument/2006/relationships/hyperlink" Target="https://docs.streamlit.io" TargetMode="External"/><Relationship Id="rId5" Type="http://schemas.openxmlformats.org/officeDocument/2006/relationships/hyperlink" Target="https://ai.google.dev" TargetMode="External"/><Relationship Id="rId6" Type="http://schemas.openxmlformats.org/officeDocument/2006/relationships/hyperlink" Target="https://ai.google.dev" TargetMode="External"/><Relationship Id="rId7" Type="http://schemas.openxmlformats.org/officeDocument/2006/relationships/hyperlink" Target="https://www.sqlite.org/docs.html" TargetMode="External"/><Relationship Id="rId8" Type="http://schemas.openxmlformats.org/officeDocument/2006/relationships/hyperlink" Target="https://www.sqlite.org/docs.html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1.png"/><Relationship Id="rId4" Type="http://schemas.openxmlformats.org/officeDocument/2006/relationships/hyperlink" Target="https://github.com/abhay1maurya/Team-A-Receipt-and--Invoice-Digitizer" TargetMode="External"/><Relationship Id="rId5" Type="http://schemas.openxmlformats.org/officeDocument/2006/relationships/image" Target="../media/image7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100637" y="1287809"/>
            <a:ext cx="1990725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1595437" y="1830734"/>
            <a:ext cx="90012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20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Receipt and Invoice Digitizer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3871912" y="3423195"/>
            <a:ext cx="4448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Extraction </a:t>
            </a:r>
            <a:r>
              <a:rPr b="0" i="0" lang="en-US" sz="18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Analytics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333500" y="4407991"/>
            <a:ext cx="22383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Abhay Maurya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3762375" y="4407991"/>
            <a:ext cx="22383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Pattem Dharmika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6191250" y="4407991"/>
            <a:ext cx="22383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Harini Kaveti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8620125" y="4407991"/>
            <a:ext cx="22383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Vaibhavi Vernekar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5184625" y="5022625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Internship 2025-26</a:t>
            </a:r>
            <a:endParaRPr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7" name="Google Shape;97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8" name="Google Shape;98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1750" y="1457325"/>
            <a:ext cx="5238750" cy="482917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/>
          <p:nvPr/>
        </p:nvSpPr>
        <p:spPr>
          <a:xfrm>
            <a:off x="762000" y="5715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Problem Statement</a:t>
            </a:r>
            <a:endParaRPr/>
          </a:p>
        </p:txBody>
      </p:sp>
      <p:sp>
        <p:nvSpPr>
          <p:cNvPr id="100" name="Google Shape;100;p14"/>
          <p:cNvSpPr/>
          <p:nvPr/>
        </p:nvSpPr>
        <p:spPr>
          <a:xfrm>
            <a:off x="571500" y="571500"/>
            <a:ext cx="57150" cy="60007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01" name="Google Shape;101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81750" y="1457325"/>
            <a:ext cx="5238750" cy="4829175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1143000" y="1966912"/>
            <a:ext cx="466725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Inefficient Manual Management: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Sorting and typing data from physical receipts is time-consuming and error-prone.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1143000" y="2995612"/>
            <a:ext cx="466725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Unstructured Data: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Receipts come in various formats, making it difficult to extract structured data systematically.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1143000" y="4024312"/>
            <a:ext cx="466725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Lack of Insights: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Hard to analyze spending patterns or vendor distribution from piles of paper.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1143000" y="4748212"/>
            <a:ext cx="466725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Unreliable OCR: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Standard OCR systems often fail without context validation or vendor-specific templates.</a:t>
            </a:r>
            <a:endParaRPr/>
          </a:p>
        </p:txBody>
      </p:sp>
      <p:pic>
        <p:nvPicPr>
          <p:cNvPr descr="image.png" id="106" name="Google Shape;106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9625" y="198596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7" name="Google Shape;107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9625" y="301466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8" name="Google Shape;108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9625" y="404336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9" name="Google Shape;109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9625" y="4767262"/>
            <a:ext cx="190500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4" name="Google Shape;114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309812"/>
            <a:ext cx="3492400" cy="3124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6" name="Google Shape;116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650" y="2309812"/>
            <a:ext cx="3492549" cy="3124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7" name="Google Shape;117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7950" y="2309812"/>
            <a:ext cx="3492400" cy="3124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/>
          <p:nvPr/>
        </p:nvSpPr>
        <p:spPr>
          <a:xfrm>
            <a:off x="762000" y="5715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Project Objectives</a:t>
            </a:r>
            <a:endParaRPr/>
          </a:p>
        </p:txBody>
      </p:sp>
      <p:sp>
        <p:nvSpPr>
          <p:cNvPr id="119" name="Google Shape;119;p15"/>
          <p:cNvSpPr/>
          <p:nvPr/>
        </p:nvSpPr>
        <p:spPr>
          <a:xfrm>
            <a:off x="571500" y="571500"/>
            <a:ext cx="57150" cy="60007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20" name="Google Shape;120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66775" y="2605087"/>
            <a:ext cx="290185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5"/>
          <p:cNvSpPr txBox="1"/>
          <p:nvPr/>
        </p:nvSpPr>
        <p:spPr>
          <a:xfrm>
            <a:off x="866775" y="3138487"/>
            <a:ext cx="3046943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B82F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Automate &amp; Extract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866775" y="3776662"/>
            <a:ext cx="2901850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Fully automate receipt digitization using AI to extract structured financial data from images.</a:t>
            </a:r>
            <a:endParaRPr/>
          </a:p>
        </p:txBody>
      </p:sp>
      <p:pic>
        <p:nvPicPr>
          <p:cNvPr descr="image.png" id="123" name="Google Shape;123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44925" y="2757487"/>
            <a:ext cx="2901999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5"/>
          <p:cNvSpPr txBox="1"/>
          <p:nvPr/>
        </p:nvSpPr>
        <p:spPr>
          <a:xfrm>
            <a:off x="4644925" y="3290887"/>
            <a:ext cx="3047099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B82F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Structure &amp; Store</a:t>
            </a:r>
            <a:endParaRPr/>
          </a:p>
        </p:txBody>
      </p:sp>
      <p:sp>
        <p:nvSpPr>
          <p:cNvPr id="125" name="Google Shape;125;p15"/>
          <p:cNvSpPr txBox="1"/>
          <p:nvPr/>
        </p:nvSpPr>
        <p:spPr>
          <a:xfrm>
            <a:off x="4644925" y="3929062"/>
            <a:ext cx="2901999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Convert unstructured image data into a clean, queryable SQLite database format.</a:t>
            </a:r>
            <a:endParaRPr/>
          </a:p>
        </p:txBody>
      </p:sp>
      <p:pic>
        <p:nvPicPr>
          <p:cNvPr descr="image.png" id="126" name="Google Shape;126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23225" y="2757487"/>
            <a:ext cx="290185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15"/>
          <p:cNvSpPr txBox="1"/>
          <p:nvPr/>
        </p:nvSpPr>
        <p:spPr>
          <a:xfrm>
            <a:off x="8423225" y="3290887"/>
            <a:ext cx="3046943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B82F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Analyze &amp; Visualize</a:t>
            </a:r>
            <a:endParaRPr/>
          </a:p>
        </p:txBody>
      </p:sp>
      <p:sp>
        <p:nvSpPr>
          <p:cNvPr id="128" name="Google Shape;128;p15"/>
          <p:cNvSpPr txBox="1"/>
          <p:nvPr/>
        </p:nvSpPr>
        <p:spPr>
          <a:xfrm>
            <a:off x="8423225" y="3929062"/>
            <a:ext cx="290185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Provide an interactive analytics dashboard for visual insights on spending and vendors.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this slide" id="133" name="Google Shape;133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47625" y="0"/>
            <a:ext cx="1228725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8" name="Google Shape;138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9" name="Google Shape;139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694557"/>
            <a:ext cx="4953000" cy="13372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0" name="Google Shape;140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3222277"/>
            <a:ext cx="4953000" cy="133722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1" name="Google Shape;141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749998"/>
            <a:ext cx="4953000" cy="133722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7"/>
          <p:cNvSpPr txBox="1"/>
          <p:nvPr/>
        </p:nvSpPr>
        <p:spPr>
          <a:xfrm>
            <a:off x="762000" y="808732"/>
            <a:ext cx="50006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System Architecture</a:t>
            </a:r>
            <a:endParaRPr/>
          </a:p>
        </p:txBody>
      </p:sp>
      <p:sp>
        <p:nvSpPr>
          <p:cNvPr id="143" name="Google Shape;143;p17"/>
          <p:cNvSpPr/>
          <p:nvPr/>
        </p:nvSpPr>
        <p:spPr>
          <a:xfrm>
            <a:off x="571500" y="808732"/>
            <a:ext cx="57150" cy="60007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7"/>
          <p:cNvSpPr txBox="1"/>
          <p:nvPr/>
        </p:nvSpPr>
        <p:spPr>
          <a:xfrm>
            <a:off x="723900" y="1917295"/>
            <a:ext cx="48807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64820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Input &amp; Ingestion</a:t>
            </a:r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723900" y="2666107"/>
            <a:ext cx="4648200" cy="2132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User uploads image -&gt; Preprocessing (OpenCV)</a:t>
            </a:r>
            <a:endParaRPr/>
          </a:p>
        </p:txBody>
      </p:sp>
      <p:sp>
        <p:nvSpPr>
          <p:cNvPr id="146" name="Google Shape;146;p17"/>
          <p:cNvSpPr txBox="1"/>
          <p:nvPr/>
        </p:nvSpPr>
        <p:spPr>
          <a:xfrm>
            <a:off x="762000" y="3374677"/>
            <a:ext cx="4840605" cy="771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61010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Core Processing</a:t>
            </a:r>
            <a:endParaRPr/>
          </a:p>
        </p:txBody>
      </p:sp>
      <p:sp>
        <p:nvSpPr>
          <p:cNvPr id="147" name="Google Shape;147;p17"/>
          <p:cNvSpPr txBox="1"/>
          <p:nvPr/>
        </p:nvSpPr>
        <p:spPr>
          <a:xfrm>
            <a:off x="762000" y="4193827"/>
            <a:ext cx="4610100" cy="2132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OCR (Gemini) -&gt; Template Parser -&gt; Validation</a:t>
            </a: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723900" y="4902398"/>
            <a:ext cx="4880610" cy="7715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464820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Storage &amp; Output</a:t>
            </a:r>
            <a:endParaRPr/>
          </a:p>
        </p:txBody>
      </p:sp>
      <p:sp>
        <p:nvSpPr>
          <p:cNvPr id="149" name="Google Shape;149;p17"/>
          <p:cNvSpPr txBox="1"/>
          <p:nvPr/>
        </p:nvSpPr>
        <p:spPr>
          <a:xfrm>
            <a:off x="723900" y="5721548"/>
            <a:ext cx="4648200" cy="2132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SQLite Database -&gt; Streamlit Dashboard -&gt; Insights</a:t>
            </a:r>
            <a:endParaRPr/>
          </a:p>
        </p:txBody>
      </p:sp>
      <p:pic>
        <p:nvPicPr>
          <p:cNvPr descr="image.png" id="150" name="Google Shape;150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23900" y="1846957"/>
            <a:ext cx="46482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1" name="Google Shape;151;p1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62000" y="3374677"/>
            <a:ext cx="46101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2" name="Google Shape;152;p1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23900" y="4902398"/>
            <a:ext cx="46482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Beautify this slide" id="153" name="Google Shape;153;p17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0" y="32059"/>
            <a:ext cx="12192000" cy="67865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8" name="Google Shape;158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9" name="Google Shape;159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700212"/>
            <a:ext cx="5381625" cy="2028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0" name="Google Shape;160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38875" y="1700212"/>
            <a:ext cx="5381625" cy="2028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1" name="Google Shape;161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014787"/>
            <a:ext cx="5381625" cy="20288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2" name="Google Shape;162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38875" y="4014787"/>
            <a:ext cx="5381625" cy="2028825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8"/>
          <p:cNvSpPr txBox="1"/>
          <p:nvPr/>
        </p:nvSpPr>
        <p:spPr>
          <a:xfrm>
            <a:off x="762000" y="5715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Technology Stack</a:t>
            </a:r>
            <a:endParaRPr/>
          </a:p>
        </p:txBody>
      </p:sp>
      <p:sp>
        <p:nvSpPr>
          <p:cNvPr id="164" name="Google Shape;164;p18"/>
          <p:cNvSpPr/>
          <p:nvPr/>
        </p:nvSpPr>
        <p:spPr>
          <a:xfrm>
            <a:off x="571500" y="571500"/>
            <a:ext cx="57150" cy="60007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65" name="Google Shape;165;p1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66775" y="1995487"/>
            <a:ext cx="4791075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8"/>
          <p:cNvSpPr txBox="1"/>
          <p:nvPr/>
        </p:nvSpPr>
        <p:spPr>
          <a:xfrm>
            <a:off x="866775" y="2528887"/>
            <a:ext cx="5030628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B82F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Frontend</a:t>
            </a:r>
            <a:endParaRPr/>
          </a:p>
        </p:txBody>
      </p:sp>
      <p:pic>
        <p:nvPicPr>
          <p:cNvPr descr="image.png" id="167" name="Google Shape;167;p1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14400" y="3024187"/>
            <a:ext cx="4695825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8" name="Google Shape;168;p1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534150" y="1995487"/>
            <a:ext cx="4791075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8"/>
          <p:cNvSpPr txBox="1"/>
          <p:nvPr/>
        </p:nvSpPr>
        <p:spPr>
          <a:xfrm>
            <a:off x="6534150" y="2528887"/>
            <a:ext cx="5030628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B82F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Backend</a:t>
            </a:r>
            <a:endParaRPr/>
          </a:p>
        </p:txBody>
      </p:sp>
      <p:pic>
        <p:nvPicPr>
          <p:cNvPr descr="image.png" id="170" name="Google Shape;170;p18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581775" y="3024187"/>
            <a:ext cx="4695825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1" name="Google Shape;171;p18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66775" y="4310062"/>
            <a:ext cx="4791075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8"/>
          <p:cNvSpPr txBox="1"/>
          <p:nvPr/>
        </p:nvSpPr>
        <p:spPr>
          <a:xfrm>
            <a:off x="866775" y="4843462"/>
            <a:ext cx="5030628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B82F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AI &amp; Processing</a:t>
            </a:r>
            <a:endParaRPr/>
          </a:p>
        </p:txBody>
      </p:sp>
      <p:pic>
        <p:nvPicPr>
          <p:cNvPr descr="image.png" id="173" name="Google Shape;173;p18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6534150" y="4310062"/>
            <a:ext cx="4791075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18"/>
          <p:cNvSpPr txBox="1"/>
          <p:nvPr/>
        </p:nvSpPr>
        <p:spPr>
          <a:xfrm>
            <a:off x="6534150" y="4843462"/>
            <a:ext cx="5030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B82F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Data &amp; Vi</a:t>
            </a:r>
            <a:r>
              <a:rPr lang="en-US" sz="1800">
                <a:solidFill>
                  <a:srgbClr val="3B82F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</a:t>
            </a:r>
            <a:r>
              <a:rPr b="0" i="0" lang="en-US" sz="1800" u="none" cap="none" strike="noStrike">
                <a:solidFill>
                  <a:srgbClr val="3B82F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ualization</a:t>
            </a:r>
            <a:endParaRPr/>
          </a:p>
        </p:txBody>
      </p:sp>
      <p:pic>
        <p:nvPicPr>
          <p:cNvPr descr="image.png" id="175" name="Google Shape;175;p18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914400" y="5338762"/>
            <a:ext cx="1390650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6" name="Google Shape;176;p18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2447925" y="5338762"/>
            <a:ext cx="790575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7" name="Google Shape;177;p18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3381375" y="5338762"/>
            <a:ext cx="942975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8" name="Google Shape;178;p18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581775" y="5338762"/>
            <a:ext cx="800100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9" name="Google Shape;179;p18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7524750" y="5338762"/>
            <a:ext cx="733425" cy="3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0" name="Google Shape;180;p18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8401050" y="5338762"/>
            <a:ext cx="866775" cy="361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5" name="Google Shape;185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6" name="Google Shape;186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334666"/>
            <a:ext cx="5238750" cy="8819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7" name="Google Shape;187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3359497"/>
            <a:ext cx="5238750" cy="8819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8" name="Google Shape;188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384327"/>
            <a:ext cx="5238750" cy="8819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9" name="Google Shape;189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381750" y="2334666"/>
            <a:ext cx="5238750" cy="8819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0" name="Google Shape;190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381750" y="3359497"/>
            <a:ext cx="5238750" cy="8819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1" name="Google Shape;191;p1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381750" y="4384327"/>
            <a:ext cx="5238750" cy="881955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9"/>
          <p:cNvSpPr txBox="1"/>
          <p:nvPr/>
        </p:nvSpPr>
        <p:spPr>
          <a:xfrm>
            <a:off x="762000" y="5715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Core Modules</a:t>
            </a:r>
            <a:endParaRPr/>
          </a:p>
        </p:txBody>
      </p:sp>
      <p:sp>
        <p:nvSpPr>
          <p:cNvPr id="193" name="Google Shape;193;p19"/>
          <p:cNvSpPr/>
          <p:nvPr/>
        </p:nvSpPr>
        <p:spPr>
          <a:xfrm>
            <a:off x="571500" y="571500"/>
            <a:ext cx="57150" cy="60007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9"/>
          <p:cNvSpPr txBox="1"/>
          <p:nvPr/>
        </p:nvSpPr>
        <p:spPr>
          <a:xfrm>
            <a:off x="771525" y="2534691"/>
            <a:ext cx="5080635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40AF"/>
                </a:solidFill>
                <a:latin typeface="Poppins"/>
                <a:ea typeface="Poppins"/>
                <a:cs typeface="Poppins"/>
                <a:sym typeface="Poppins"/>
              </a:rPr>
              <a:t>1. Ingestion Module</a:t>
            </a:r>
            <a:endParaRPr/>
          </a:p>
        </p:txBody>
      </p:sp>
      <p:sp>
        <p:nvSpPr>
          <p:cNvPr id="195" name="Google Shape;195;p19"/>
          <p:cNvSpPr txBox="1"/>
          <p:nvPr/>
        </p:nvSpPr>
        <p:spPr>
          <a:xfrm>
            <a:off x="771525" y="2772816"/>
            <a:ext cx="4838700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Handles image uploads and basic preprocessing.</a:t>
            </a:r>
            <a:endParaRPr/>
          </a:p>
        </p:txBody>
      </p:sp>
      <p:sp>
        <p:nvSpPr>
          <p:cNvPr id="196" name="Google Shape;196;p19"/>
          <p:cNvSpPr txBox="1"/>
          <p:nvPr/>
        </p:nvSpPr>
        <p:spPr>
          <a:xfrm>
            <a:off x="771525" y="3559522"/>
            <a:ext cx="5080635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40AF"/>
                </a:solidFill>
                <a:latin typeface="Poppins"/>
                <a:ea typeface="Poppins"/>
                <a:cs typeface="Poppins"/>
                <a:sym typeface="Poppins"/>
              </a:rPr>
              <a:t>2. OCR &amp; Template Module</a:t>
            </a:r>
            <a:endParaRPr/>
          </a:p>
        </p:txBody>
      </p:sp>
      <p:sp>
        <p:nvSpPr>
          <p:cNvPr id="197" name="Google Shape;197;p19"/>
          <p:cNvSpPr txBox="1"/>
          <p:nvPr/>
        </p:nvSpPr>
        <p:spPr>
          <a:xfrm>
            <a:off x="771525" y="3797647"/>
            <a:ext cx="4838700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Extracts text using AI and maps to vendor templates.</a:t>
            </a:r>
            <a:endParaRPr/>
          </a:p>
        </p:txBody>
      </p:sp>
      <p:sp>
        <p:nvSpPr>
          <p:cNvPr id="198" name="Google Shape;198;p19"/>
          <p:cNvSpPr txBox="1"/>
          <p:nvPr/>
        </p:nvSpPr>
        <p:spPr>
          <a:xfrm>
            <a:off x="771525" y="4584352"/>
            <a:ext cx="5080635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40AF"/>
                </a:solidFill>
                <a:latin typeface="Poppins"/>
                <a:ea typeface="Poppins"/>
                <a:cs typeface="Poppins"/>
                <a:sym typeface="Poppins"/>
              </a:rPr>
              <a:t>3. Database Module</a:t>
            </a:r>
            <a:endParaRPr/>
          </a:p>
        </p:txBody>
      </p:sp>
      <p:sp>
        <p:nvSpPr>
          <p:cNvPr id="199" name="Google Shape;199;p19"/>
          <p:cNvSpPr txBox="1"/>
          <p:nvPr/>
        </p:nvSpPr>
        <p:spPr>
          <a:xfrm>
            <a:off x="771525" y="4822477"/>
            <a:ext cx="4838700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Manages schema and CRUD operations for receipts.</a:t>
            </a:r>
            <a:endParaRPr/>
          </a:p>
        </p:txBody>
      </p:sp>
      <p:sp>
        <p:nvSpPr>
          <p:cNvPr id="200" name="Google Shape;200;p19"/>
          <p:cNvSpPr txBox="1"/>
          <p:nvPr/>
        </p:nvSpPr>
        <p:spPr>
          <a:xfrm>
            <a:off x="6581775" y="2534691"/>
            <a:ext cx="5080635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40AF"/>
                </a:solidFill>
                <a:latin typeface="Poppins"/>
                <a:ea typeface="Poppins"/>
                <a:cs typeface="Poppins"/>
                <a:sym typeface="Poppins"/>
              </a:rPr>
              <a:t>4. Analytics Module</a:t>
            </a:r>
            <a:endParaRPr/>
          </a:p>
        </p:txBody>
      </p:sp>
      <p:sp>
        <p:nvSpPr>
          <p:cNvPr id="201" name="Google Shape;201;p19"/>
          <p:cNvSpPr txBox="1"/>
          <p:nvPr/>
        </p:nvSpPr>
        <p:spPr>
          <a:xfrm>
            <a:off x="6581775" y="2772816"/>
            <a:ext cx="4838700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Calculates KPIs, totals, and category breakdowns.</a:t>
            </a:r>
            <a:endParaRPr/>
          </a:p>
        </p:txBody>
      </p:sp>
      <p:sp>
        <p:nvSpPr>
          <p:cNvPr id="202" name="Google Shape;202;p19"/>
          <p:cNvSpPr txBox="1"/>
          <p:nvPr/>
        </p:nvSpPr>
        <p:spPr>
          <a:xfrm>
            <a:off x="6581775" y="3559522"/>
            <a:ext cx="5080635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40AF"/>
                </a:solidFill>
                <a:latin typeface="Poppins"/>
                <a:ea typeface="Poppins"/>
                <a:cs typeface="Poppins"/>
                <a:sym typeface="Poppins"/>
              </a:rPr>
              <a:t>5. Visualization Module</a:t>
            </a:r>
            <a:endParaRPr/>
          </a:p>
        </p:txBody>
      </p:sp>
      <p:sp>
        <p:nvSpPr>
          <p:cNvPr id="203" name="Google Shape;203;p19"/>
          <p:cNvSpPr txBox="1"/>
          <p:nvPr/>
        </p:nvSpPr>
        <p:spPr>
          <a:xfrm>
            <a:off x="6581775" y="3797647"/>
            <a:ext cx="4838700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Generates interactive charts using Plotly.</a:t>
            </a:r>
            <a:endParaRPr/>
          </a:p>
        </p:txBody>
      </p:sp>
      <p:sp>
        <p:nvSpPr>
          <p:cNvPr id="204" name="Google Shape;204;p19"/>
          <p:cNvSpPr txBox="1"/>
          <p:nvPr/>
        </p:nvSpPr>
        <p:spPr>
          <a:xfrm>
            <a:off x="6581775" y="4584352"/>
            <a:ext cx="5080635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40AF"/>
                </a:solidFill>
                <a:latin typeface="Poppins"/>
                <a:ea typeface="Poppins"/>
                <a:cs typeface="Poppins"/>
                <a:sym typeface="Poppins"/>
              </a:rPr>
              <a:t>6. Insights Module</a:t>
            </a:r>
            <a:endParaRPr/>
          </a:p>
        </p:txBody>
      </p:sp>
      <p:sp>
        <p:nvSpPr>
          <p:cNvPr id="205" name="Google Shape;205;p19"/>
          <p:cNvSpPr txBox="1"/>
          <p:nvPr/>
        </p:nvSpPr>
        <p:spPr>
          <a:xfrm>
            <a:off x="6581775" y="4822477"/>
            <a:ext cx="4838700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Derives actionable intelligence from the data.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0"/>
          <p:cNvSpPr/>
          <p:nvPr/>
        </p:nvSpPr>
        <p:spPr>
          <a:xfrm>
            <a:off x="571500" y="3857625"/>
            <a:ext cx="11049000" cy="285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11" name="Google Shape;211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2" name="Google Shape;212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3134766"/>
            <a:ext cx="1714500" cy="14742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3" name="Google Shape;213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82900" y="3134766"/>
            <a:ext cx="1714500" cy="14742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4" name="Google Shape;214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94301" y="3134766"/>
            <a:ext cx="1714500" cy="14742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5" name="Google Shape;215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905702" y="3134766"/>
            <a:ext cx="1714500" cy="1474291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0"/>
          <p:cNvSpPr txBox="1"/>
          <p:nvPr/>
        </p:nvSpPr>
        <p:spPr>
          <a:xfrm>
            <a:off x="762000" y="5715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Milestone Progress</a:t>
            </a:r>
            <a:endParaRPr/>
          </a:p>
        </p:txBody>
      </p:sp>
      <p:sp>
        <p:nvSpPr>
          <p:cNvPr id="217" name="Google Shape;217;p20"/>
          <p:cNvSpPr/>
          <p:nvPr/>
        </p:nvSpPr>
        <p:spPr>
          <a:xfrm>
            <a:off x="571500" y="571500"/>
            <a:ext cx="57150" cy="60007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18" name="Google Shape;218;p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884437" y="3757612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9" name="Google Shape;219;p2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995838" y="3757612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0" name="Google Shape;220;p2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107239" y="3757612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1" name="Google Shape;221;p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81050" y="3344316"/>
            <a:ext cx="12954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 txBox="1"/>
          <p:nvPr/>
        </p:nvSpPr>
        <p:spPr>
          <a:xfrm>
            <a:off x="748665" y="3668166"/>
            <a:ext cx="136017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Milestone 1</a:t>
            </a:r>
            <a:endParaRPr/>
          </a:p>
        </p:txBody>
      </p:sp>
      <p:sp>
        <p:nvSpPr>
          <p:cNvPr id="223" name="Google Shape;223;p20"/>
          <p:cNvSpPr txBox="1"/>
          <p:nvPr/>
        </p:nvSpPr>
        <p:spPr>
          <a:xfrm>
            <a:off x="781050" y="3972966"/>
            <a:ext cx="1295400" cy="4265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32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OCR Extraction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Database Storage</a:t>
            </a:r>
            <a:endParaRPr/>
          </a:p>
        </p:txBody>
      </p:sp>
      <p:pic>
        <p:nvPicPr>
          <p:cNvPr descr="image.png" id="224" name="Google Shape;224;p20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3892450" y="3344316"/>
            <a:ext cx="12954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20"/>
          <p:cNvSpPr txBox="1"/>
          <p:nvPr/>
        </p:nvSpPr>
        <p:spPr>
          <a:xfrm>
            <a:off x="3860065" y="3668166"/>
            <a:ext cx="136017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Milestone 2</a:t>
            </a:r>
            <a:endParaRPr/>
          </a:p>
        </p:txBody>
      </p:sp>
      <p:sp>
        <p:nvSpPr>
          <p:cNvPr id="226" name="Google Shape;226;p20"/>
          <p:cNvSpPr txBox="1"/>
          <p:nvPr/>
        </p:nvSpPr>
        <p:spPr>
          <a:xfrm>
            <a:off x="3892450" y="3972966"/>
            <a:ext cx="1295400" cy="4265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32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Data Validation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Duplicate Detection</a:t>
            </a:r>
            <a:endParaRPr/>
          </a:p>
        </p:txBody>
      </p:sp>
      <p:pic>
        <p:nvPicPr>
          <p:cNvPr descr="image.png" id="227" name="Google Shape;227;p20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7003851" y="3344316"/>
            <a:ext cx="12954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0"/>
          <p:cNvSpPr txBox="1"/>
          <p:nvPr/>
        </p:nvSpPr>
        <p:spPr>
          <a:xfrm>
            <a:off x="6971466" y="3668166"/>
            <a:ext cx="136017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Milestone 3</a:t>
            </a:r>
            <a:endParaRPr/>
          </a:p>
        </p:txBody>
      </p:sp>
      <p:sp>
        <p:nvSpPr>
          <p:cNvPr id="229" name="Google Shape;229;p20"/>
          <p:cNvSpPr txBox="1"/>
          <p:nvPr/>
        </p:nvSpPr>
        <p:spPr>
          <a:xfrm>
            <a:off x="7003851" y="3972966"/>
            <a:ext cx="1295400" cy="4265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32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Dashboard UI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Charts &amp; Analytics</a:t>
            </a:r>
            <a:endParaRPr/>
          </a:p>
        </p:txBody>
      </p:sp>
      <p:pic>
        <p:nvPicPr>
          <p:cNvPr descr="image.png" id="230" name="Google Shape;230;p20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10115252" y="3344316"/>
            <a:ext cx="12954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20"/>
          <p:cNvSpPr txBox="1"/>
          <p:nvPr/>
        </p:nvSpPr>
        <p:spPr>
          <a:xfrm>
            <a:off x="10082867" y="3668166"/>
            <a:ext cx="136017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Milestone 4</a:t>
            </a:r>
            <a:endParaRPr/>
          </a:p>
        </p:txBody>
      </p:sp>
      <p:sp>
        <p:nvSpPr>
          <p:cNvPr id="232" name="Google Shape;232;p20"/>
          <p:cNvSpPr txBox="1"/>
          <p:nvPr/>
        </p:nvSpPr>
        <p:spPr>
          <a:xfrm>
            <a:off x="10115252" y="3972966"/>
            <a:ext cx="1295400" cy="4265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932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Template Parsing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Accuracy Boost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7" name="Google Shape;237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1"/>
          <p:cNvSpPr txBox="1"/>
          <p:nvPr/>
        </p:nvSpPr>
        <p:spPr>
          <a:xfrm>
            <a:off x="762000" y="1257300"/>
            <a:ext cx="5000625" cy="1200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Dashboard &amp; Analytics</a:t>
            </a:r>
            <a:endParaRPr/>
          </a:p>
        </p:txBody>
      </p:sp>
      <p:sp>
        <p:nvSpPr>
          <p:cNvPr id="239" name="Google Shape;239;p21"/>
          <p:cNvSpPr/>
          <p:nvPr/>
        </p:nvSpPr>
        <p:spPr>
          <a:xfrm>
            <a:off x="572625" y="1257300"/>
            <a:ext cx="56100" cy="609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1"/>
          <p:cNvSpPr txBox="1"/>
          <p:nvPr/>
        </p:nvSpPr>
        <p:spPr>
          <a:xfrm>
            <a:off x="1143000" y="2743200"/>
            <a:ext cx="4381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KPI Metrics: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Total spending, average transaction value, total receipts processed.</a:t>
            </a:r>
            <a:endParaRPr/>
          </a:p>
        </p:txBody>
      </p:sp>
      <p:sp>
        <p:nvSpPr>
          <p:cNvPr id="241" name="Google Shape;241;p21"/>
          <p:cNvSpPr txBox="1"/>
          <p:nvPr/>
        </p:nvSpPr>
        <p:spPr>
          <a:xfrm>
            <a:off x="1143000" y="3467100"/>
            <a:ext cx="4381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Monthly Trends: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Line charts showing spending behavior over time.</a:t>
            </a:r>
            <a:endParaRPr/>
          </a:p>
        </p:txBody>
      </p:sp>
      <p:sp>
        <p:nvSpPr>
          <p:cNvPr id="242" name="Google Shape;242;p21"/>
          <p:cNvSpPr txBox="1"/>
          <p:nvPr/>
        </p:nvSpPr>
        <p:spPr>
          <a:xfrm>
            <a:off x="1143000" y="4191000"/>
            <a:ext cx="4381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Vendor Analysis: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Bar charts identifying top vendors by spend.</a:t>
            </a:r>
            <a:endParaRPr/>
          </a:p>
        </p:txBody>
      </p:sp>
      <p:sp>
        <p:nvSpPr>
          <p:cNvPr id="243" name="Google Shape;243;p21"/>
          <p:cNvSpPr txBox="1"/>
          <p:nvPr/>
        </p:nvSpPr>
        <p:spPr>
          <a:xfrm>
            <a:off x="1143000" y="4914900"/>
            <a:ext cx="4381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Category Distribution: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Doughnut charts for expense categories (Food, Travel, etc.).</a:t>
            </a:r>
            <a:endParaRPr/>
          </a:p>
        </p:txBody>
      </p:sp>
      <p:pic>
        <p:nvPicPr>
          <p:cNvPr descr="image.png" id="244" name="Google Shape;244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9625" y="276225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5" name="Google Shape;245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9625" y="348615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6" name="Google Shape;246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9625" y="421005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7" name="Google Shape;247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9625" y="493395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21" title="Screenshot 2026-02-11 175407.png"/>
          <p:cNvPicPr preferRelativeResize="0"/>
          <p:nvPr/>
        </p:nvPicPr>
        <p:blipFill rotWithShape="1">
          <a:blip r:embed="rId5">
            <a:alphaModFix/>
          </a:blip>
          <a:srcRect b="0" l="0" r="41931" t="0"/>
          <a:stretch/>
        </p:blipFill>
        <p:spPr>
          <a:xfrm>
            <a:off x="5524500" y="843300"/>
            <a:ext cx="6453677" cy="5485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53" name="Google Shape;253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4" name="Google Shape;254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1750" y="1457325"/>
            <a:ext cx="5238750" cy="4829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5" name="Google Shape;255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3152775"/>
            <a:ext cx="5238750" cy="2762250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22"/>
          <p:cNvSpPr txBox="1"/>
          <p:nvPr/>
        </p:nvSpPr>
        <p:spPr>
          <a:xfrm>
            <a:off x="762000" y="571500"/>
            <a:ext cx="11401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Template-Based Parsing </a:t>
            </a:r>
            <a:endParaRPr/>
          </a:p>
        </p:txBody>
      </p:sp>
      <p:sp>
        <p:nvSpPr>
          <p:cNvPr id="257" name="Google Shape;257;p22"/>
          <p:cNvSpPr/>
          <p:nvPr/>
        </p:nvSpPr>
        <p:spPr>
          <a:xfrm>
            <a:off x="571500" y="571500"/>
            <a:ext cx="57150" cy="60007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2"/>
          <p:cNvSpPr txBox="1"/>
          <p:nvPr/>
        </p:nvSpPr>
        <p:spPr>
          <a:xfrm>
            <a:off x="571500" y="1828800"/>
            <a:ext cx="5500687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B82F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Why Templates?</a:t>
            </a:r>
            <a:endParaRPr/>
          </a:p>
        </p:txBody>
      </p:sp>
      <p:sp>
        <p:nvSpPr>
          <p:cNvPr id="259" name="Google Shape;259;p22"/>
          <p:cNvSpPr txBox="1"/>
          <p:nvPr/>
        </p:nvSpPr>
        <p:spPr>
          <a:xfrm>
            <a:off x="571500" y="2352675"/>
            <a:ext cx="523875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While AI is powerful, vendor-specific templates ensure 100% accuracy for recurring formats.</a:t>
            </a:r>
            <a:endParaRPr/>
          </a:p>
        </p:txBody>
      </p:sp>
      <p:pic>
        <p:nvPicPr>
          <p:cNvPr descr="image.png" id="260" name="Google Shape;260;p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81750" y="1457325"/>
            <a:ext cx="5238750" cy="4829175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22"/>
          <p:cNvSpPr txBox="1"/>
          <p:nvPr/>
        </p:nvSpPr>
        <p:spPr>
          <a:xfrm>
            <a:off x="1438275" y="3448050"/>
            <a:ext cx="40767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Pattern Recognition: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Identifies specific vendors (e.g., Walmart, Uber).</a:t>
            </a:r>
            <a:endParaRPr/>
          </a:p>
        </p:txBody>
      </p:sp>
      <p:sp>
        <p:nvSpPr>
          <p:cNvPr id="262" name="Google Shape;262;p22"/>
          <p:cNvSpPr txBox="1"/>
          <p:nvPr/>
        </p:nvSpPr>
        <p:spPr>
          <a:xfrm>
            <a:off x="1438275" y="4171950"/>
            <a:ext cx="40767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Structured Extraction: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Uses predefined regex coordinates for date, total, and tax.</a:t>
            </a:r>
            <a:endParaRPr/>
          </a:p>
        </p:txBody>
      </p:sp>
      <p:sp>
        <p:nvSpPr>
          <p:cNvPr id="263" name="Google Shape;263;p22"/>
          <p:cNvSpPr txBox="1"/>
          <p:nvPr/>
        </p:nvSpPr>
        <p:spPr>
          <a:xfrm>
            <a:off x="1438275" y="4895850"/>
            <a:ext cx="40767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Reliability:</a:t>
            </a: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Reduces dependency on AI interpretation for known formats.</a:t>
            </a:r>
            <a:endParaRPr/>
          </a:p>
        </p:txBody>
      </p:sp>
      <p:pic>
        <p:nvPicPr>
          <p:cNvPr descr="image.png" id="264" name="Google Shape;264;p2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104900" y="346710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5" name="Google Shape;265;p2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104900" y="419100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6" name="Google Shape;266;p2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104900" y="491490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emplate-Based Parsing &#10;" id="267" name="Google Shape;267;p22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381750" y="1457325"/>
            <a:ext cx="5238749" cy="4882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this slide" id="272" name="Google Shape;27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47625" y="0"/>
            <a:ext cx="1228725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7" name="Google Shape;277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24"/>
          <p:cNvSpPr txBox="1"/>
          <p:nvPr/>
        </p:nvSpPr>
        <p:spPr>
          <a:xfrm>
            <a:off x="762000" y="5715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Team Roles &amp; Responsibilities</a:t>
            </a:r>
            <a:endParaRPr/>
          </a:p>
        </p:txBody>
      </p:sp>
      <p:sp>
        <p:nvSpPr>
          <p:cNvPr id="279" name="Google Shape;279;p24"/>
          <p:cNvSpPr/>
          <p:nvPr/>
        </p:nvSpPr>
        <p:spPr>
          <a:xfrm>
            <a:off x="571500" y="571500"/>
            <a:ext cx="57150" cy="60007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80" name="Google Shape;280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9625" y="2928937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1" name="Google Shape;281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524625" y="2928937"/>
            <a:ext cx="2857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2" name="Google Shape;282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9625" y="4433738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3" name="Google Shape;283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524625" y="4433738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24"/>
          <p:cNvSpPr txBox="1"/>
          <p:nvPr/>
        </p:nvSpPr>
        <p:spPr>
          <a:xfrm>
            <a:off x="1381125" y="2748111"/>
            <a:ext cx="2070258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Abhay Maurya</a:t>
            </a:r>
            <a:endParaRPr/>
          </a:p>
        </p:txBody>
      </p:sp>
      <p:sp>
        <p:nvSpPr>
          <p:cNvPr id="285" name="Google Shape;285;p24"/>
          <p:cNvSpPr txBox="1"/>
          <p:nvPr/>
        </p:nvSpPr>
        <p:spPr>
          <a:xfrm>
            <a:off x="1381125" y="3033861"/>
            <a:ext cx="1971675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Visualization Module</a:t>
            </a:r>
            <a:endParaRPr/>
          </a:p>
        </p:txBody>
      </p:sp>
      <p:sp>
        <p:nvSpPr>
          <p:cNvPr id="286" name="Google Shape;286;p24"/>
          <p:cNvSpPr txBox="1"/>
          <p:nvPr/>
        </p:nvSpPr>
        <p:spPr>
          <a:xfrm>
            <a:off x="1381125" y="3277641"/>
            <a:ext cx="1971675" cy="2132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Charts &amp; Dashboard Integration</a:t>
            </a:r>
            <a:endParaRPr/>
          </a:p>
        </p:txBody>
      </p:sp>
      <p:sp>
        <p:nvSpPr>
          <p:cNvPr id="287" name="Google Shape;287;p24"/>
          <p:cNvSpPr txBox="1"/>
          <p:nvPr/>
        </p:nvSpPr>
        <p:spPr>
          <a:xfrm>
            <a:off x="7000875" y="2748111"/>
            <a:ext cx="1580197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Harini Kaveti</a:t>
            </a:r>
            <a:endParaRPr/>
          </a:p>
        </p:txBody>
      </p:sp>
      <p:sp>
        <p:nvSpPr>
          <p:cNvPr id="288" name="Google Shape;288;p24"/>
          <p:cNvSpPr txBox="1"/>
          <p:nvPr/>
        </p:nvSpPr>
        <p:spPr>
          <a:xfrm>
            <a:off x="7000875" y="3033861"/>
            <a:ext cx="1504950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Analytics Module</a:t>
            </a:r>
            <a:endParaRPr/>
          </a:p>
        </p:txBody>
      </p:sp>
      <p:sp>
        <p:nvSpPr>
          <p:cNvPr id="289" name="Google Shape;289;p24"/>
          <p:cNvSpPr txBox="1"/>
          <p:nvPr/>
        </p:nvSpPr>
        <p:spPr>
          <a:xfrm>
            <a:off x="7000875" y="3277641"/>
            <a:ext cx="1504950" cy="2132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KPI Calculations &amp; Logic</a:t>
            </a:r>
            <a:endParaRPr/>
          </a:p>
        </p:txBody>
      </p:sp>
      <p:sp>
        <p:nvSpPr>
          <p:cNvPr id="290" name="Google Shape;290;p24"/>
          <p:cNvSpPr txBox="1"/>
          <p:nvPr/>
        </p:nvSpPr>
        <p:spPr>
          <a:xfrm>
            <a:off x="1428750" y="4252912"/>
            <a:ext cx="160020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Vaibhavi Vernekar</a:t>
            </a:r>
            <a:endParaRPr/>
          </a:p>
        </p:txBody>
      </p:sp>
      <p:sp>
        <p:nvSpPr>
          <p:cNvPr id="291" name="Google Shape;291;p24"/>
          <p:cNvSpPr txBox="1"/>
          <p:nvPr/>
        </p:nvSpPr>
        <p:spPr>
          <a:xfrm>
            <a:off x="1428750" y="4538662"/>
            <a:ext cx="1524000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Dashboard UI</a:t>
            </a:r>
            <a:endParaRPr/>
          </a:p>
        </p:txBody>
      </p:sp>
      <p:sp>
        <p:nvSpPr>
          <p:cNvPr id="292" name="Google Shape;292;p24"/>
          <p:cNvSpPr txBox="1"/>
          <p:nvPr/>
        </p:nvSpPr>
        <p:spPr>
          <a:xfrm>
            <a:off x="1428750" y="4782442"/>
            <a:ext cx="1524000" cy="2132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Streamlit Development</a:t>
            </a:r>
            <a:endParaRPr/>
          </a:p>
        </p:txBody>
      </p:sp>
      <p:sp>
        <p:nvSpPr>
          <p:cNvPr id="293" name="Google Shape;293;p24"/>
          <p:cNvSpPr txBox="1"/>
          <p:nvPr/>
        </p:nvSpPr>
        <p:spPr>
          <a:xfrm>
            <a:off x="7143750" y="4252912"/>
            <a:ext cx="184023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Pattem Dharmika</a:t>
            </a:r>
            <a:endParaRPr/>
          </a:p>
        </p:txBody>
      </p:sp>
      <p:sp>
        <p:nvSpPr>
          <p:cNvPr id="294" name="Google Shape;294;p24"/>
          <p:cNvSpPr txBox="1"/>
          <p:nvPr/>
        </p:nvSpPr>
        <p:spPr>
          <a:xfrm>
            <a:off x="7143750" y="4538662"/>
            <a:ext cx="1752600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Reporting Module</a:t>
            </a:r>
            <a:endParaRPr/>
          </a:p>
        </p:txBody>
      </p:sp>
      <p:sp>
        <p:nvSpPr>
          <p:cNvPr id="295" name="Google Shape;295;p24"/>
          <p:cNvSpPr txBox="1"/>
          <p:nvPr/>
        </p:nvSpPr>
        <p:spPr>
          <a:xfrm>
            <a:off x="7143750" y="4782442"/>
            <a:ext cx="1752600" cy="2132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Export &amp; Reporting Features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25"/>
          <p:cNvSpPr/>
          <p:nvPr/>
        </p:nvSpPr>
        <p:spPr>
          <a:xfrm>
            <a:off x="571500" y="3443287"/>
            <a:ext cx="11049000" cy="285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01" name="Google Shape;30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2" name="Google Shape;302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85925" y="3167062"/>
            <a:ext cx="1428750" cy="581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3" name="Google Shape;303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533775" y="3167062"/>
            <a:ext cx="1428750" cy="581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4" name="Google Shape;304;p2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381625" y="3167062"/>
            <a:ext cx="1428750" cy="581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5" name="Google Shape;305;p2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229475" y="3167062"/>
            <a:ext cx="1428750" cy="581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6" name="Google Shape;306;p2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077325" y="3086100"/>
            <a:ext cx="1428750" cy="74295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25"/>
          <p:cNvSpPr txBox="1"/>
          <p:nvPr/>
        </p:nvSpPr>
        <p:spPr>
          <a:xfrm>
            <a:off x="762000" y="571500"/>
            <a:ext cx="11401425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1E3A8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Application Demo Flow</a:t>
            </a:r>
            <a:endParaRPr/>
          </a:p>
        </p:txBody>
      </p:sp>
      <p:sp>
        <p:nvSpPr>
          <p:cNvPr id="308" name="Google Shape;308;p25"/>
          <p:cNvSpPr/>
          <p:nvPr/>
        </p:nvSpPr>
        <p:spPr>
          <a:xfrm>
            <a:off x="571500" y="571500"/>
            <a:ext cx="57150" cy="600075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25"/>
          <p:cNvSpPr txBox="1"/>
          <p:nvPr/>
        </p:nvSpPr>
        <p:spPr>
          <a:xfrm>
            <a:off x="571500" y="459105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The system ensures a seamless transition from raw image to actionable insight in seconds.</a:t>
            </a:r>
            <a:endParaRPr/>
          </a:p>
        </p:txBody>
      </p:sp>
      <p:pic>
        <p:nvPicPr>
          <p:cNvPr descr="image.png" id="310" name="Google Shape;310;p2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3257550" y="3381375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1" name="Google Shape;311;p2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105400" y="3381375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2" name="Google Shape;312;p2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953250" y="3381375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3" name="Google Shape;313;p2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801100" y="3381375"/>
            <a:ext cx="133350" cy="15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eautify this slide" id="318" name="Google Shape;318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47625" y="0"/>
            <a:ext cx="1228725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7"/>
          <p:cNvSpPr txBox="1"/>
          <p:nvPr/>
        </p:nvSpPr>
        <p:spPr>
          <a:xfrm>
            <a:off x="3027525" y="250100"/>
            <a:ext cx="5833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20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Final Output</a:t>
            </a:r>
            <a:endParaRPr b="1">
              <a:solidFill>
                <a:schemeClr val="dk1"/>
              </a:solidFill>
            </a:endParaRPr>
          </a:p>
        </p:txBody>
      </p:sp>
      <p:pic>
        <p:nvPicPr>
          <p:cNvPr id="324" name="Google Shape;324;p27" title="Screenshot 2026-02-20 17374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4650" y="1267550"/>
            <a:ext cx="4786025" cy="20797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25" name="Google Shape;325;p27" title="Screenshot 2026-02-20 174020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94200" y="1267550"/>
            <a:ext cx="5096549" cy="207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6" name="Google Shape;326;p27" title="Screenshot 2026-02-20 174108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94650" y="3723500"/>
            <a:ext cx="4786026" cy="2480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327" name="Google Shape;327;p27" title="Screenshot 2026-02-20 174135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294200" y="3892125"/>
            <a:ext cx="4968802" cy="2311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32" name="Google Shape;332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3" name="Google Shape;333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09912" y="1912590"/>
            <a:ext cx="5972175" cy="121726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4" name="Google Shape;334;p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109912" y="3320355"/>
            <a:ext cx="5972175" cy="121726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5" name="Google Shape;335;p2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109912" y="4728120"/>
            <a:ext cx="5972175" cy="1217265"/>
          </a:xfrm>
          <a:prstGeom prst="rect">
            <a:avLst/>
          </a:prstGeom>
          <a:noFill/>
          <a:ln>
            <a:noFill/>
          </a:ln>
        </p:spPr>
      </p:pic>
      <p:sp>
        <p:nvSpPr>
          <p:cNvPr id="336" name="Google Shape;336;p28"/>
          <p:cNvSpPr txBox="1"/>
          <p:nvPr/>
        </p:nvSpPr>
        <p:spPr>
          <a:xfrm>
            <a:off x="295275" y="721965"/>
            <a:ext cx="11601450" cy="809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20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Conclusion</a:t>
            </a:r>
            <a:endParaRPr/>
          </a:p>
        </p:txBody>
      </p:sp>
      <p:sp>
        <p:nvSpPr>
          <p:cNvPr id="337" name="Google Shape;337;p28"/>
          <p:cNvSpPr txBox="1"/>
          <p:nvPr/>
        </p:nvSpPr>
        <p:spPr>
          <a:xfrm>
            <a:off x="3471862" y="2207865"/>
            <a:ext cx="53149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3A8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Fully Automated Digitization</a:t>
            </a:r>
            <a:endParaRPr/>
          </a:p>
        </p:txBody>
      </p:sp>
      <p:sp>
        <p:nvSpPr>
          <p:cNvPr id="338" name="Google Shape;338;p28"/>
          <p:cNvSpPr txBox="1"/>
          <p:nvPr/>
        </p:nvSpPr>
        <p:spPr>
          <a:xfrm>
            <a:off x="3471862" y="2560290"/>
            <a:ext cx="531495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Eliminates manual entry with high-speed processing.</a:t>
            </a:r>
            <a:endParaRPr/>
          </a:p>
        </p:txBody>
      </p:sp>
      <p:sp>
        <p:nvSpPr>
          <p:cNvPr id="339" name="Google Shape;339;p28"/>
          <p:cNvSpPr txBox="1"/>
          <p:nvPr/>
        </p:nvSpPr>
        <p:spPr>
          <a:xfrm>
            <a:off x="3471862" y="3615630"/>
            <a:ext cx="53149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3A8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High Accuracy</a:t>
            </a:r>
            <a:endParaRPr/>
          </a:p>
        </p:txBody>
      </p:sp>
      <p:sp>
        <p:nvSpPr>
          <p:cNvPr id="340" name="Google Shape;340;p28"/>
          <p:cNvSpPr txBox="1"/>
          <p:nvPr/>
        </p:nvSpPr>
        <p:spPr>
          <a:xfrm>
            <a:off x="3471862" y="3968055"/>
            <a:ext cx="531495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Hybrid approach using Gemini AI and Template Parsing.</a:t>
            </a:r>
            <a:endParaRPr/>
          </a:p>
        </p:txBody>
      </p:sp>
      <p:sp>
        <p:nvSpPr>
          <p:cNvPr id="341" name="Google Shape;341;p28"/>
          <p:cNvSpPr txBox="1"/>
          <p:nvPr/>
        </p:nvSpPr>
        <p:spPr>
          <a:xfrm>
            <a:off x="3471862" y="5023395"/>
            <a:ext cx="53149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3A8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Actionable Intelligence</a:t>
            </a:r>
            <a:endParaRPr/>
          </a:p>
        </p:txBody>
      </p:sp>
      <p:sp>
        <p:nvSpPr>
          <p:cNvPr id="342" name="Google Shape;342;p28"/>
          <p:cNvSpPr txBox="1"/>
          <p:nvPr/>
        </p:nvSpPr>
        <p:spPr>
          <a:xfrm>
            <a:off x="3471862" y="5375820"/>
            <a:ext cx="531495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Professional dashboard transforms raw data into business value.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29"/>
          <p:cNvSpPr txBox="1"/>
          <p:nvPr/>
        </p:nvSpPr>
        <p:spPr>
          <a:xfrm>
            <a:off x="3793200" y="355400"/>
            <a:ext cx="39228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200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References</a:t>
            </a:r>
            <a:endParaRPr/>
          </a:p>
        </p:txBody>
      </p:sp>
      <p:sp>
        <p:nvSpPr>
          <p:cNvPr id="348" name="Google Shape;348;p29"/>
          <p:cNvSpPr txBox="1"/>
          <p:nvPr/>
        </p:nvSpPr>
        <p:spPr>
          <a:xfrm>
            <a:off x="686725" y="1463125"/>
            <a:ext cx="10701600" cy="48564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🔹</a:t>
            </a:r>
            <a:r>
              <a:rPr b="1" lang="en-US" sz="17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Research Papers</a:t>
            </a:r>
            <a:endParaRPr b="1" sz="17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[1] A. Smith and J. Doe, “Automated receipt data extraction using OCR and machine learning,” </a:t>
            </a:r>
            <a:r>
              <a:rPr i="1"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International Journal of Computer Applications</a:t>
            </a:r>
            <a:r>
              <a:rPr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, vol. 182, no. 10, pp. 25–31, 2021.</a:t>
            </a:r>
            <a:endParaRPr sz="11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[2] S. Kumar and R. Patel, “Template-based document information extraction,” </a:t>
            </a:r>
            <a:r>
              <a:rPr i="1"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IEEE Access</a:t>
            </a:r>
            <a:r>
              <a:rPr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, vol. 9, pp. 12345–12356, 2022.</a:t>
            </a:r>
            <a:endParaRPr sz="11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🔹 Books</a:t>
            </a:r>
            <a:endParaRPr b="1" sz="17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[3] R. C. Gonzalez and R. E. Woods, </a:t>
            </a:r>
            <a:r>
              <a:rPr i="1"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Digital Image Processing</a:t>
            </a:r>
            <a:r>
              <a:rPr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, 4th ed. Pearson, 2018.</a:t>
            </a:r>
            <a:endParaRPr sz="11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[4] T. M. Mitchell, </a:t>
            </a:r>
            <a:r>
              <a:rPr i="1"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Machine Learning</a:t>
            </a:r>
            <a:r>
              <a:rPr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. New York, NY, USA: McGraw-Hill, 1997.</a:t>
            </a:r>
            <a:endParaRPr sz="11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🔹 Online Resources</a:t>
            </a:r>
            <a:endParaRPr b="1" sz="17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[5] OpenCV, “Open Source Computer Vision Library,” 2024. [Online]. Available:</a:t>
            </a:r>
            <a:r>
              <a:rPr lang="en-US" sz="1100">
                <a:solidFill>
                  <a:schemeClr val="dk1"/>
                </a:solidFill>
                <a:uFill>
                  <a:noFill/>
                </a:u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1100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4"/>
              </a:rPr>
              <a:t>https://opencv.org</a:t>
            </a:r>
            <a:endParaRPr sz="1100" u="sng">
              <a:solidFill>
                <a:schemeClr val="hlink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[6] Google AI, “Gemini API Documentation,” 2024. [Online]. Available:</a:t>
            </a:r>
            <a:r>
              <a:rPr lang="en-US" sz="1100">
                <a:solidFill>
                  <a:schemeClr val="dk1"/>
                </a:solidFill>
                <a:uFill>
                  <a:noFill/>
                </a:uFill>
                <a:latin typeface="Inter"/>
                <a:ea typeface="Inter"/>
                <a:cs typeface="Inter"/>
                <a:sym typeface="Inter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1100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6"/>
              </a:rPr>
              <a:t>https://ai.google.dev</a:t>
            </a:r>
            <a:endParaRPr sz="1100" u="sng">
              <a:solidFill>
                <a:schemeClr val="hlink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[7] SQLite Consortium, “SQLite Documentation,” 2024. [Online]. Available:</a:t>
            </a:r>
            <a:r>
              <a:rPr lang="en-US" sz="1100">
                <a:solidFill>
                  <a:schemeClr val="dk1"/>
                </a:solidFill>
                <a:uFill>
                  <a:noFill/>
                </a:uFill>
                <a:latin typeface="Inter"/>
                <a:ea typeface="Inter"/>
                <a:cs typeface="Inter"/>
                <a:sym typeface="Inter"/>
                <a:hlinkClick r:id="rId7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1100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8"/>
              </a:rPr>
              <a:t>https://www.sqlite.org/docs.html</a:t>
            </a:r>
            <a:endParaRPr sz="1100" u="sng">
              <a:solidFill>
                <a:schemeClr val="hlink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[8] Streamlit Inc., “Streamlit Documentation,” 2024. [Online]. Available:</a:t>
            </a:r>
            <a:r>
              <a:rPr lang="en-US" sz="1100">
                <a:solidFill>
                  <a:schemeClr val="dk1"/>
                </a:solidFill>
                <a:uFill>
                  <a:noFill/>
                </a:uFill>
                <a:latin typeface="Inter"/>
                <a:ea typeface="Inter"/>
                <a:cs typeface="Inter"/>
                <a:sym typeface="Inter"/>
                <a:hlinkClick r:id="rId9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1100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10"/>
              </a:rPr>
              <a:t>https://docs.streamlit.io</a:t>
            </a:r>
            <a:endParaRPr sz="1100" u="sng">
              <a:solidFill>
                <a:schemeClr val="hlink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[9] Plotly Technologies Inc., “Plotly Python Graphing Library,” 2024. [Online]. Available:</a:t>
            </a:r>
            <a:r>
              <a:rPr lang="en-US" sz="1100">
                <a:solidFill>
                  <a:schemeClr val="dk1"/>
                </a:solidFill>
                <a:uFill>
                  <a:noFill/>
                </a:uFill>
                <a:latin typeface="Inter"/>
                <a:ea typeface="Inter"/>
                <a:cs typeface="Inter"/>
                <a:sym typeface="Inter"/>
                <a:hlinkClick r:id="rId11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lang="en-US" sz="1100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12"/>
              </a:rPr>
              <a:t>https://plotly.com/python/</a:t>
            </a:r>
            <a:endParaRPr sz="1100" u="sng">
              <a:solidFill>
                <a:schemeClr val="hlink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53" name="Google Shape;353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30"/>
          <p:cNvSpPr txBox="1"/>
          <p:nvPr/>
        </p:nvSpPr>
        <p:spPr>
          <a:xfrm>
            <a:off x="295275" y="2750939"/>
            <a:ext cx="11601450" cy="754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1E3A8A"/>
                </a:solidFill>
                <a:latin typeface="Poppins"/>
                <a:ea typeface="Poppins"/>
                <a:cs typeface="Poppins"/>
                <a:sym typeface="Poppins"/>
              </a:rPr>
              <a:t>Thank You!</a:t>
            </a:r>
            <a:endParaRPr/>
          </a:p>
        </p:txBody>
      </p:sp>
      <p:sp>
        <p:nvSpPr>
          <p:cNvPr id="355" name="Google Shape;355;p30"/>
          <p:cNvSpPr txBox="1"/>
          <p:nvPr/>
        </p:nvSpPr>
        <p:spPr>
          <a:xfrm>
            <a:off x="571500" y="4000500"/>
            <a:ext cx="11049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30"/>
          <p:cNvSpPr txBox="1"/>
          <p:nvPr/>
        </p:nvSpPr>
        <p:spPr>
          <a:xfrm>
            <a:off x="5134350" y="4700613"/>
            <a:ext cx="29655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5240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57" name="Google Shape;357;p30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76600" y="4854100"/>
            <a:ext cx="401800" cy="401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