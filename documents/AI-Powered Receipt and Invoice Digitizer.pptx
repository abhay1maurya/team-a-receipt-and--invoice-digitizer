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Inter SemiBold" panose="020B0604020202020204" charset="0"/>
      <p:regular r:id="rId25"/>
      <p:bold r:id="rId26"/>
      <p:italic r:id="rId27"/>
      <p:boldItalic r:id="rId28"/>
    </p:embeddedFont>
    <p:embeddedFont>
      <p:font typeface="Poppins" panose="020B0502040204020203" pitchFamily="2" charset="0"/>
      <p:regular r:id="rId29"/>
      <p:bold r:id="rId30"/>
      <p:italic r:id="rId31"/>
      <p:boldItalic r:id="rId32"/>
    </p:embeddedFont>
    <p:embeddedFont>
      <p:font typeface="Poppins SemiBold" panose="020B0502040204020203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f07f457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f07f457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f07f457d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f07f457d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f07f457d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f07f457d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f291478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f291478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f2914788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f2914788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jp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v.org" TargetMode="External"/><Relationship Id="rId7" Type="http://schemas.openxmlformats.org/officeDocument/2006/relationships/hyperlink" Target="https://plotly.com/python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streamlit.io" TargetMode="External"/><Relationship Id="rId5" Type="http://schemas.openxmlformats.org/officeDocument/2006/relationships/hyperlink" Target="https://www.sqlite.org/docs.html" TargetMode="External"/><Relationship Id="rId4" Type="http://schemas.openxmlformats.org/officeDocument/2006/relationships/hyperlink" Target="https://ai.google.dev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hyperlink" Target="https://github.com/abhay1maurya/Team-A-Receipt-and--Invoice-Digitiz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0637" y="1287809"/>
            <a:ext cx="19907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1830734"/>
            <a:ext cx="900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Receipt and Invoice Digitizer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71912" y="3423195"/>
            <a:ext cx="444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Extraction </a:t>
            </a: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Abhay Maurya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62375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Pattem Dharmika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91250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Harini Kaveti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620125" y="4407991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Vaibhavi Vernekar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184625" y="5022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Internship 2025-26</a:t>
            </a:r>
            <a:endParaRPr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143000" y="19669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Inefficient Manual Management: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Sorting and typing data from physical receipts is time-consuming and error-prone.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43000" y="29956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Unstructured Data: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Receipts come in various formats, making it difficult to extract structured data systematically.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43000" y="402431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Lack of Insights: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Hard to analyze spending patterns or vendor distribution from piles of paper.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43000" y="47482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Unreliable OCR: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 OCR systems often fail without context validation or vendor-specific templates.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05263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09800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765" y="4129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240" y="487798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9812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09812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09812"/>
            <a:ext cx="34924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Objectives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05087"/>
            <a:ext cx="2901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66775" y="313848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 &amp; Extract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776662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Fully automate receipt digitization using AI to extract structured financial data from images.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2757487"/>
            <a:ext cx="29019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644925" y="32908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Structure &amp; Store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44925" y="39290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 unstructured image data into a clean, queryable SQLite database format.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2757487"/>
            <a:ext cx="2901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423225" y="329088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Analyze &amp; Visualize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23225" y="3929062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 an interactive analytics dashboard for visual insights on spending and vendors.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571500" y="385762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2900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4301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05702" y="3134766"/>
            <a:ext cx="1714500" cy="1474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Milestone Progress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84437" y="37576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95838" y="37576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07239" y="37576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48665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1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81050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OCR Extraction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Database Storage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92450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3860065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2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3892450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Validation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Duplicate Detection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003851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971466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3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03851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Dashboard UI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Charts &amp; Analytics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115252" y="3344316"/>
            <a:ext cx="1295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10082867" y="3668166"/>
            <a:ext cx="13601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Milestone 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115252" y="3972966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Template Parsing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Accuracy Boost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4557"/>
            <a:ext cx="4953000" cy="13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22277"/>
            <a:ext cx="4953000" cy="13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49998"/>
            <a:ext cx="4953000" cy="133722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2000" y="808732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808732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23900" y="1917295"/>
            <a:ext cx="4880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8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Input &amp; Ingestion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23900" y="2666107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 uploads image -&gt; Preprocessing (OpenCV)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3374677"/>
            <a:ext cx="484060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Processing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4193827"/>
            <a:ext cx="46101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OCR (Gemini) -&gt; Template Parser -&gt; Validation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23900" y="4902398"/>
            <a:ext cx="488061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48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Storage &amp; Output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23900" y="5721548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SQLite Database -&gt; Streamlit Dashboard -&gt; Insights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1846957"/>
            <a:ext cx="46482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374677"/>
            <a:ext cx="46101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4902398"/>
            <a:ext cx="46482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Beautify this slide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32059"/>
            <a:ext cx="12192000" cy="6786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0212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700212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4787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014787"/>
            <a:ext cx="5381625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1995487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866775" y="2528887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</a:t>
            </a:r>
            <a:endParaRPr/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3024187"/>
            <a:ext cx="46958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1995487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6534150" y="2528887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3024187"/>
            <a:ext cx="46958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6775" y="4310062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866775" y="4843462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&amp; Processing</a:t>
            </a:r>
            <a:endParaRPr/>
          </a:p>
        </p:txBody>
      </p:sp>
      <p:pic>
        <p:nvPicPr>
          <p:cNvPr id="200" name="Google Shape;200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34150" y="4310062"/>
            <a:ext cx="4791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6534150" y="4843462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&amp; Vi</a:t>
            </a:r>
            <a:r>
              <a:rPr lang="en-US" sz="1800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</a:t>
            </a: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ualization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14400" y="5338762"/>
            <a:ext cx="13906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447925" y="5338762"/>
            <a:ext cx="790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381375" y="5338762"/>
            <a:ext cx="9429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81775" y="5338762"/>
            <a:ext cx="800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524750" y="5338762"/>
            <a:ext cx="7334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401050" y="5338762"/>
            <a:ext cx="86677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4666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9497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84327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334666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3359497"/>
            <a:ext cx="5238750" cy="88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384327"/>
            <a:ext cx="5238750" cy="88195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Modules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71525" y="2534691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1. Ingestion Module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71525" y="2772816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Handles image uploads and basic preprocessing.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71525" y="355952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2. OCR &amp; Template Module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71525" y="379764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Extracts text using AI and maps to vendor templates.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771525" y="458435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3. Database Module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71525" y="482247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Manages schema and CRUD operations for receipts.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581775" y="2534691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4. Analytics Module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581775" y="2772816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KPIs, totals, and category breakdowns.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581775" y="355952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5. Visualization Module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581775" y="379764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 interactive charts using Plotly.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581775" y="4584352"/>
            <a:ext cx="50806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6. Insights Module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581775" y="4822477"/>
            <a:ext cx="4838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Derives actionable intelligence from the data.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709275" y="1029675"/>
            <a:ext cx="500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&amp; Analytics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65300" y="931325"/>
            <a:ext cx="56100" cy="609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143000" y="27432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KPI Metrics: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Total spending, average transaction value, total receipts processed.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1143000" y="34671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Monthly Trends: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Line charts showing spending behavior over time.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143000" y="41910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Vendor Analysis: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Bar charts identifying top vendors by spend.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143000" y="49149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Category Distribution: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Doughnut charts for expense categories (Food, Travel, etc.).</a:t>
            </a:r>
            <a:endParaRPr/>
          </a:p>
        </p:txBody>
      </p:sp>
      <p:pic>
        <p:nvPicPr>
          <p:cNvPr id="244" name="Google Shape;2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8436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5532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295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50053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title="Screenshot 2026-02-11 175407.png"/>
          <p:cNvPicPr preferRelativeResize="0"/>
          <p:nvPr/>
        </p:nvPicPr>
        <p:blipFill rotWithShape="1">
          <a:blip r:embed="rId5">
            <a:alphaModFix/>
          </a:blip>
          <a:srcRect r="41931"/>
          <a:stretch/>
        </p:blipFill>
        <p:spPr>
          <a:xfrm>
            <a:off x="5524500" y="843300"/>
            <a:ext cx="6453677" cy="54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52775"/>
            <a:ext cx="52387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Template-Based Parsing 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1828800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Templates?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571500" y="23526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While AI is powerful, vendor-specific templates ensure 100% accuracy for recurring formats.</a:t>
            </a:r>
            <a:endParaRPr/>
          </a:p>
        </p:txBody>
      </p:sp>
      <p:pic>
        <p:nvPicPr>
          <p:cNvPr id="260" name="Google Shape;26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457325"/>
            <a:ext cx="52387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1438275" y="34480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Pattern Recognition: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Identifies specific vendors (e.g., Walmart, Uber).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438275" y="41719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Structured Extraction: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Uses predefined regex coordinates for date, total, and tax.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438275" y="48958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Reliability: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Reduces dependency on AI interpretation for known formats.</a:t>
            </a:r>
            <a:endParaRPr/>
          </a:p>
        </p:txBody>
      </p:sp>
      <p:pic>
        <p:nvPicPr>
          <p:cNvPr id="264" name="Google Shape;26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355159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426597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5000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Template-Based Parsing 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1750" y="1457325"/>
            <a:ext cx="5238749" cy="48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571500" y="3443287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592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377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8162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29475" y="3167062"/>
            <a:ext cx="1428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77325" y="3086100"/>
            <a:ext cx="14287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Application Demo Flow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4591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ensures a seamless transition from raw image to actionable insight in seconds.</a:t>
            </a:r>
            <a:endParaRPr/>
          </a:p>
        </p:txBody>
      </p:sp>
      <p:pic>
        <p:nvPicPr>
          <p:cNvPr id="287" name="Google Shape;287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5755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0540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5325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01100" y="338137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/>
          <p:nvPr/>
        </p:nvSpPr>
        <p:spPr>
          <a:xfrm>
            <a:off x="3027525" y="250100"/>
            <a:ext cx="5833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Final Output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01" name="Google Shape;301;p26" title="Screenshot 2026-02-20 1737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50" y="1267550"/>
            <a:ext cx="4786025" cy="207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 title="Screenshot 2026-02-20 174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4200" y="1267550"/>
            <a:ext cx="5096549" cy="207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title="Screenshot 2026-02-20 174108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4650" y="3723500"/>
            <a:ext cx="4786026" cy="248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6" title="Screenshot 2026-02-20 17413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4200" y="3892125"/>
            <a:ext cx="4968802" cy="23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Team Roles &amp; Responsibilities</a:t>
            </a:r>
            <a:endParaRPr/>
          </a:p>
        </p:txBody>
      </p:sp>
      <p:sp>
        <p:nvSpPr>
          <p:cNvPr id="311" name="Google Shape;311;p2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9289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29289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443373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4433738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 txBox="1"/>
          <p:nvPr/>
        </p:nvSpPr>
        <p:spPr>
          <a:xfrm>
            <a:off x="1381125" y="2748111"/>
            <a:ext cx="207025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Abhay Maurya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1381125" y="3033861"/>
            <a:ext cx="19716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Visualization Module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1381125" y="3277641"/>
            <a:ext cx="19716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Charts &amp; Dashboard Integration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7000875" y="2748111"/>
            <a:ext cx="15801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Harini Kaveti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7000875" y="3033861"/>
            <a:ext cx="1504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Analytics Module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7000875" y="3277641"/>
            <a:ext cx="1504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KPI Calculations &amp; Logic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1428750" y="4252912"/>
            <a:ext cx="1600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Vaibhavi Vernekar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1428750" y="4538662"/>
            <a:ext cx="1524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Dashboard UI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1428750" y="4782442"/>
            <a:ext cx="1524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Streamlit Development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7143750" y="4252912"/>
            <a:ext cx="184023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Pattem Dharmika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7143750" y="4538662"/>
            <a:ext cx="1752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Reporting Module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143750" y="4782442"/>
            <a:ext cx="17526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Export &amp; Reporting Features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9912" y="1912590"/>
            <a:ext cx="5972175" cy="121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09912" y="3320355"/>
            <a:ext cx="5972175" cy="121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09912" y="4728120"/>
            <a:ext cx="5972175" cy="121726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295275" y="721965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3471862" y="2207865"/>
            <a:ext cx="531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Fully Automated Digitization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3471862" y="2560290"/>
            <a:ext cx="531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manual entry with high-speed processing.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3471862" y="3615630"/>
            <a:ext cx="531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Accuracy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3471862" y="3968055"/>
            <a:ext cx="531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Hybrid approach using Gemini AI and Template Parsing.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3471862" y="5023395"/>
            <a:ext cx="531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Actionable Intelligence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3471862" y="5375820"/>
            <a:ext cx="531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Professional dashboard transforms raw data into business value.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/>
          <p:nvPr/>
        </p:nvSpPr>
        <p:spPr>
          <a:xfrm>
            <a:off x="3793200" y="355400"/>
            <a:ext cx="3922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657227" y="1266479"/>
            <a:ext cx="10954669" cy="526525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🔹Research Papers</a:t>
            </a:r>
            <a:endParaRPr sz="17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[1] A. Smith and J. Doe, “Automated receipt data extraction using OCR and machine learning,” </a:t>
            </a:r>
            <a:r>
              <a:rPr lang="en-US" sz="11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International Journal of Computer Applications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vol. 182, no. 10, pp. 25–31, 2021.</a:t>
            </a:r>
            <a:endParaRPr sz="11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[2] S. Kumar and R. Patel, “Template-based document information extraction,” </a:t>
            </a:r>
            <a:r>
              <a:rPr lang="en-US" sz="11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IEEE Access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vol. 9, pp. 12345–12356, 2022.</a:t>
            </a:r>
            <a:endParaRPr sz="11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🔹 Books</a:t>
            </a:r>
            <a:endParaRPr sz="17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[3] R. C. Gonzalez and R. E. Woods, </a:t>
            </a:r>
            <a:r>
              <a:rPr lang="en-US" sz="11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Digital Image Processing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4th ed. Pearson, 2018.</a:t>
            </a:r>
            <a:endParaRPr sz="11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[4] T. M. Mitchell, </a:t>
            </a:r>
            <a:r>
              <a:rPr lang="en-US" sz="11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New York, NY, USA: McGraw-Hill, 1997.</a:t>
            </a:r>
            <a:endParaRPr sz="11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🔹 Online Resources</a:t>
            </a:r>
            <a:endParaRPr sz="17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[5] OpenCV, “Open Source Computer Vision Library,” 2024. [Online]. Available:</a:t>
            </a:r>
            <a:r>
              <a:rPr lang="en-US" sz="1100" dirty="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https://opencv.org</a:t>
            </a:r>
            <a:endParaRPr sz="1100" u="sng" dirty="0">
              <a:solidFill>
                <a:schemeClr val="hlink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[6] Google AI, “Gemini API Documentation,” 2024. [Online]. Available:</a:t>
            </a:r>
            <a:r>
              <a:rPr lang="en-US" sz="1100" dirty="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https://ai.google.dev</a:t>
            </a:r>
            <a:endParaRPr sz="1100" u="sng" dirty="0">
              <a:solidFill>
                <a:schemeClr val="hlink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[7] SQLite Consortium, “SQLite Documentation,” 2024. [Online]. Available:</a:t>
            </a:r>
            <a:r>
              <a:rPr lang="en-US" sz="1100" dirty="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https://www.sqlite.org/docs.html</a:t>
            </a:r>
            <a:endParaRPr sz="1100" u="sng" dirty="0">
              <a:solidFill>
                <a:schemeClr val="hlink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[8] </a:t>
            </a:r>
            <a:r>
              <a:rPr lang="en-US" sz="11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Inc., “</a:t>
            </a:r>
            <a:r>
              <a:rPr lang="en-US" sz="11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Documentation,” 2024. [Online]. Available:</a:t>
            </a:r>
            <a:r>
              <a:rPr lang="en-US" sz="1100" dirty="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https://docs.streamlit.io</a:t>
            </a:r>
            <a:endParaRPr sz="1100" u="sng" dirty="0">
              <a:solidFill>
                <a:schemeClr val="hlink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[9] </a:t>
            </a:r>
            <a:r>
              <a:rPr lang="en-US" sz="11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Plotly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Technologies Inc., “</a:t>
            </a:r>
            <a:r>
              <a:rPr lang="en-US" sz="11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Plotly</a:t>
            </a:r>
            <a:r>
              <a:rPr lang="en-US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Python Graphing Library,” 2024. [Online]. Available:</a:t>
            </a:r>
            <a:r>
              <a:rPr lang="en-US" sz="1100" dirty="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https://plotly.com/python/</a:t>
            </a:r>
            <a:endParaRPr sz="1100" u="sng" dirty="0">
              <a:solidFill>
                <a:schemeClr val="hlink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0"/>
          <p:cNvSpPr txBox="1"/>
          <p:nvPr/>
        </p:nvSpPr>
        <p:spPr>
          <a:xfrm>
            <a:off x="295275" y="275093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571500" y="400050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5134350" y="4700613"/>
            <a:ext cx="2965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7" name="Google Shape;357;p3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6600" y="4854100"/>
            <a:ext cx="401800" cy="4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PresentationFormat>Widescreen</PresentationFormat>
  <Paragraphs>101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Poppins</vt:lpstr>
      <vt:lpstr>Poppins SemiBold</vt:lpstr>
      <vt:lpstr>Arial</vt:lpstr>
      <vt:lpstr>Inter SemiBold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Abhay Maurya</cp:lastModifiedBy>
  <cp:revision>1</cp:revision>
  <dcterms:modified xsi:type="dcterms:W3CDTF">2026-02-28T10:29:36Z</dcterms:modified>
</cp:coreProperties>
</file>